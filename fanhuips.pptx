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0"/>
  </p:handoutMasterIdLst>
  <p:sldIdLst>
    <p:sldId id="260" r:id="rId3"/>
    <p:sldId id="274" r:id="rId5"/>
    <p:sldId id="263" r:id="rId6"/>
    <p:sldId id="267" r:id="rId7"/>
    <p:sldId id="275" r:id="rId8"/>
    <p:sldId id="282" r:id="rId9"/>
    <p:sldId id="292" r:id="rId10"/>
    <p:sldId id="293" r:id="rId11"/>
    <p:sldId id="294" r:id="rId12"/>
    <p:sldId id="266" r:id="rId13"/>
    <p:sldId id="276" r:id="rId14"/>
    <p:sldId id="284" r:id="rId15"/>
    <p:sldId id="277" r:id="rId16"/>
    <p:sldId id="269" r:id="rId17"/>
    <p:sldId id="270" r:id="rId18"/>
    <p:sldId id="288" r:id="rId19"/>
    <p:sldId id="289" r:id="rId20"/>
    <p:sldId id="268" r:id="rId21"/>
    <p:sldId id="278" r:id="rId22"/>
    <p:sldId id="287" r:id="rId23"/>
    <p:sldId id="295" r:id="rId24"/>
    <p:sldId id="296" r:id="rId25"/>
    <p:sldId id="279" r:id="rId26"/>
    <p:sldId id="272" r:id="rId27"/>
    <p:sldId id="286" r:id="rId28"/>
    <p:sldId id="280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2" userDrawn="1">
          <p15:clr>
            <a:srgbClr val="A4A3A4"/>
          </p15:clr>
        </p15:guide>
        <p15:guide id="2" pos="38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12"/>
        <p:guide pos="384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2.xml"/><Relationship Id="rId2" Type="http://schemas.openxmlformats.org/officeDocument/2006/relationships/hyperlink" Target="https://huilog.qzz.io/WMS1" TargetMode="External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975360"/>
            <a:ext cx="1219200" cy="1219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12080" y="1696720"/>
            <a:ext cx="6096000" cy="1960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chemeClr val="tx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《仓库管理常见问题</a:t>
            </a:r>
            <a:r>
              <a:rPr lang="zh-CN" altLang="en-US" sz="5600" b="1" dirty="0">
                <a:solidFill>
                  <a:schemeClr val="tx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清单</a:t>
            </a:r>
            <a:r>
              <a:rPr lang="en-US" altLang="zh-CN" sz="5600" b="1" dirty="0">
                <a:solidFill>
                  <a:schemeClr val="tx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》</a:t>
            </a:r>
            <a:r>
              <a:rPr lang="zh-CN" altLang="en-US" sz="56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单</a:t>
            </a:r>
            <a:endParaRPr lang="zh-CN" altLang="en-US" sz="5600" b="1" dirty="0">
              <a:solidFill>
                <a:srgbClr val="FFFFFF"/>
              </a:solidFill>
              <a:latin typeface="微软雅黑" pitchFamily="34" charset="0"/>
              <a:ea typeface="微软雅黑" charset="-122"/>
              <a:cs typeface="微软雅黑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602480" y="3779520"/>
            <a:ext cx="744791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59E0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读书分享会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705600" y="4730750"/>
            <a:ext cx="3657600" cy="24384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9" name="Text 6"/>
          <p:cNvSpPr/>
          <p:nvPr/>
        </p:nvSpPr>
        <p:spPr>
          <a:xfrm>
            <a:off x="4732020" y="5242560"/>
            <a:ext cx="685038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2135" dirty="0">
                <a:solidFill>
                  <a:srgbClr val="94A3B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范会</a:t>
            </a:r>
            <a:r>
              <a:rPr lang="en-US" altLang="zh-CN" sz="2135" dirty="0">
                <a:solidFill>
                  <a:srgbClr val="94A3B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     </a:t>
            </a:r>
            <a:r>
              <a:rPr lang="en-US" sz="2135" dirty="0">
                <a:solidFill>
                  <a:srgbClr val="94A3B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2026年5月19</a:t>
            </a:r>
            <a:endParaRPr lang="en-US" sz="2135" dirty="0"/>
          </a:p>
        </p:txBody>
      </p:sp>
      <p:sp>
        <p:nvSpPr>
          <p:cNvPr id="10" name="文本框 9"/>
          <p:cNvSpPr txBox="1"/>
          <p:nvPr/>
        </p:nvSpPr>
        <p:spPr>
          <a:xfrm>
            <a:off x="1148080" y="29419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11" name="图片 10" descr="截屏2026-05-09 14.09.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40" y="295275"/>
            <a:ext cx="4333240" cy="61137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09600" y="3048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目 录</a:t>
            </a:r>
            <a:endParaRPr lang="en-US" sz="4265" dirty="0"/>
          </a:p>
        </p:txBody>
      </p:sp>
      <p:sp>
        <p:nvSpPr>
          <p:cNvPr id="4" name="Text 2"/>
          <p:cNvSpPr/>
          <p:nvPr/>
        </p:nvSpPr>
        <p:spPr>
          <a:xfrm>
            <a:off x="609600" y="1706880"/>
            <a:ext cx="73152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65" b="1" dirty="0">
                <a:solidFill>
                  <a:srgbClr val="FF6F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01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1341120" y="1748155"/>
            <a:ext cx="4876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135" dirty="0"/>
              <a:t>书籍</a:t>
            </a:r>
            <a:r>
              <a:rPr lang="zh-CN" altLang="en-US" sz="2135" dirty="0"/>
              <a:t>简介</a:t>
            </a:r>
            <a:endParaRPr lang="zh-CN" altLang="en-US" sz="2135" dirty="0"/>
          </a:p>
        </p:txBody>
      </p:sp>
      <p:sp>
        <p:nvSpPr>
          <p:cNvPr id="6" name="Text 4"/>
          <p:cNvSpPr/>
          <p:nvPr/>
        </p:nvSpPr>
        <p:spPr>
          <a:xfrm>
            <a:off x="609600" y="3469005"/>
            <a:ext cx="73152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65" b="1" dirty="0">
                <a:solidFill>
                  <a:srgbClr val="FF6F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03</a:t>
            </a:r>
            <a:endParaRPr lang="en-US" sz="2665" dirty="0"/>
          </a:p>
        </p:txBody>
      </p:sp>
      <p:sp>
        <p:nvSpPr>
          <p:cNvPr id="7" name="Text 5"/>
          <p:cNvSpPr/>
          <p:nvPr/>
        </p:nvSpPr>
        <p:spPr>
          <a:xfrm>
            <a:off x="1341120" y="3469005"/>
            <a:ext cx="4876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3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库容计算方法</a:t>
            </a:r>
            <a:endParaRPr lang="en-US" sz="2135" dirty="0"/>
          </a:p>
        </p:txBody>
      </p:sp>
      <p:sp>
        <p:nvSpPr>
          <p:cNvPr id="8" name="Text 6"/>
          <p:cNvSpPr/>
          <p:nvPr/>
        </p:nvSpPr>
        <p:spPr>
          <a:xfrm>
            <a:off x="609600" y="4383405"/>
            <a:ext cx="73152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65" b="1" dirty="0">
                <a:solidFill>
                  <a:srgbClr val="FF6F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04</a:t>
            </a:r>
            <a:endParaRPr lang="en-US" sz="2665" dirty="0"/>
          </a:p>
        </p:txBody>
      </p:sp>
      <p:sp>
        <p:nvSpPr>
          <p:cNvPr id="9" name="Text 7"/>
          <p:cNvSpPr/>
          <p:nvPr/>
        </p:nvSpPr>
        <p:spPr>
          <a:xfrm>
            <a:off x="1341120" y="4383405"/>
            <a:ext cx="4876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3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堆码技术与货位规划</a:t>
            </a:r>
            <a:endParaRPr lang="en-US" sz="2135" dirty="0"/>
          </a:p>
        </p:txBody>
      </p:sp>
      <p:sp>
        <p:nvSpPr>
          <p:cNvPr id="10" name="Text 8"/>
          <p:cNvSpPr/>
          <p:nvPr/>
        </p:nvSpPr>
        <p:spPr>
          <a:xfrm>
            <a:off x="609600" y="5297805"/>
            <a:ext cx="73152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65" b="1" dirty="0">
                <a:solidFill>
                  <a:srgbClr val="FF6F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05</a:t>
            </a:r>
            <a:endParaRPr lang="en-US" sz="2665" dirty="0"/>
          </a:p>
        </p:txBody>
      </p:sp>
      <p:sp>
        <p:nvSpPr>
          <p:cNvPr id="11" name="Text 9"/>
          <p:cNvSpPr/>
          <p:nvPr/>
        </p:nvSpPr>
        <p:spPr>
          <a:xfrm>
            <a:off x="1341120" y="5297805"/>
            <a:ext cx="4876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3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拣货方式详解</a:t>
            </a:r>
            <a:endParaRPr lang="en-US" sz="2135" dirty="0"/>
          </a:p>
        </p:txBody>
      </p:sp>
      <p:sp>
        <p:nvSpPr>
          <p:cNvPr id="12" name="Text 10"/>
          <p:cNvSpPr/>
          <p:nvPr/>
        </p:nvSpPr>
        <p:spPr>
          <a:xfrm>
            <a:off x="6573520" y="1640205"/>
            <a:ext cx="73152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65" b="1" dirty="0">
                <a:solidFill>
                  <a:srgbClr val="FF6F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06</a:t>
            </a:r>
            <a:endParaRPr lang="en-US" sz="2665" dirty="0"/>
          </a:p>
        </p:txBody>
      </p:sp>
      <p:sp>
        <p:nvSpPr>
          <p:cNvPr id="13" name="Text 11"/>
          <p:cNvSpPr/>
          <p:nvPr/>
        </p:nvSpPr>
        <p:spPr>
          <a:xfrm>
            <a:off x="7305040" y="1640205"/>
            <a:ext cx="4876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3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库存预测方法</a:t>
            </a:r>
            <a:endParaRPr lang="en-US" sz="2135" dirty="0"/>
          </a:p>
        </p:txBody>
      </p:sp>
      <p:sp>
        <p:nvSpPr>
          <p:cNvPr id="14" name="Text 12"/>
          <p:cNvSpPr/>
          <p:nvPr/>
        </p:nvSpPr>
        <p:spPr>
          <a:xfrm>
            <a:off x="6572250" y="2554605"/>
            <a:ext cx="73152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65" b="1" dirty="0">
                <a:solidFill>
                  <a:srgbClr val="FF6F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07</a:t>
            </a:r>
            <a:endParaRPr lang="en-US" sz="2665" dirty="0"/>
          </a:p>
        </p:txBody>
      </p:sp>
      <p:sp>
        <p:nvSpPr>
          <p:cNvPr id="15" name="Text 13"/>
          <p:cNvSpPr/>
          <p:nvPr/>
        </p:nvSpPr>
        <p:spPr>
          <a:xfrm>
            <a:off x="7303770" y="2554605"/>
            <a:ext cx="4876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3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WMS核心指标</a:t>
            </a:r>
            <a:endParaRPr lang="en-US" sz="2135" dirty="0"/>
          </a:p>
        </p:txBody>
      </p:sp>
      <p:sp>
        <p:nvSpPr>
          <p:cNvPr id="16" name="Text 14"/>
          <p:cNvSpPr/>
          <p:nvPr/>
        </p:nvSpPr>
        <p:spPr>
          <a:xfrm>
            <a:off x="6572250" y="3469005"/>
            <a:ext cx="73152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65" b="1" dirty="0">
                <a:solidFill>
                  <a:srgbClr val="FF6F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08</a:t>
            </a:r>
            <a:endParaRPr lang="en-US" sz="2665" dirty="0"/>
          </a:p>
        </p:txBody>
      </p:sp>
      <p:sp>
        <p:nvSpPr>
          <p:cNvPr id="17" name="Text 15"/>
          <p:cNvSpPr/>
          <p:nvPr/>
        </p:nvSpPr>
        <p:spPr>
          <a:xfrm>
            <a:off x="7303770" y="3469005"/>
            <a:ext cx="4876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3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盘点方法与流程</a:t>
            </a:r>
            <a:endParaRPr lang="en-US" sz="2135" dirty="0"/>
          </a:p>
        </p:txBody>
      </p:sp>
      <p:sp>
        <p:nvSpPr>
          <p:cNvPr id="22" name="Text 20"/>
          <p:cNvSpPr/>
          <p:nvPr/>
        </p:nvSpPr>
        <p:spPr>
          <a:xfrm>
            <a:off x="6614795" y="4439285"/>
            <a:ext cx="73152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65" b="1" dirty="0">
                <a:solidFill>
                  <a:srgbClr val="FF6F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09</a:t>
            </a:r>
            <a:endParaRPr lang="en-US" sz="2665" dirty="0"/>
          </a:p>
        </p:txBody>
      </p:sp>
      <p:sp>
        <p:nvSpPr>
          <p:cNvPr id="23" name="Text 21"/>
          <p:cNvSpPr/>
          <p:nvPr/>
        </p:nvSpPr>
        <p:spPr>
          <a:xfrm>
            <a:off x="7332980" y="4439285"/>
            <a:ext cx="4876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13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探讨</a:t>
            </a:r>
            <a:r>
              <a:rPr lang="en-US" sz="213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：仓库管理与零库存</a:t>
            </a:r>
            <a:endParaRPr lang="en-US" sz="2135" dirty="0"/>
          </a:p>
        </p:txBody>
      </p:sp>
      <p:sp>
        <p:nvSpPr>
          <p:cNvPr id="24" name="Text 4"/>
          <p:cNvSpPr/>
          <p:nvPr/>
        </p:nvSpPr>
        <p:spPr>
          <a:xfrm>
            <a:off x="570230" y="2554605"/>
            <a:ext cx="73152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65" b="1" dirty="0">
                <a:solidFill>
                  <a:srgbClr val="FF6F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02</a:t>
            </a:r>
            <a:endParaRPr lang="en-US" sz="2665" dirty="0"/>
          </a:p>
        </p:txBody>
      </p:sp>
      <p:sp>
        <p:nvSpPr>
          <p:cNvPr id="25" name="Text 5"/>
          <p:cNvSpPr/>
          <p:nvPr/>
        </p:nvSpPr>
        <p:spPr>
          <a:xfrm>
            <a:off x="1328420" y="2554605"/>
            <a:ext cx="4876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3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仓库</a:t>
            </a:r>
            <a:r>
              <a:rPr lang="zh-CN" altLang="en-US" sz="213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类型</a:t>
            </a:r>
            <a:r>
              <a:rPr lang="zh-CN" altLang="en-US" sz="213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介绍</a:t>
            </a:r>
            <a:endParaRPr lang="zh-CN" altLang="en-US" sz="2135" dirty="0">
              <a:solidFill>
                <a:srgbClr val="212121"/>
              </a:solidFill>
              <a:latin typeface="微软雅黑" pitchFamily="34" charset="0"/>
              <a:ea typeface="微软雅黑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01书籍简介</a:t>
            </a:r>
            <a:endParaRPr lang="en-US" sz="4265" dirty="0"/>
          </a:p>
        </p:txBody>
      </p:sp>
      <p:sp>
        <p:nvSpPr>
          <p:cNvPr id="4" name="Shape 2"/>
          <p:cNvSpPr/>
          <p:nvPr/>
        </p:nvSpPr>
        <p:spPr>
          <a:xfrm>
            <a:off x="609600" y="1706880"/>
            <a:ext cx="5242560" cy="46329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1706880"/>
            <a:ext cx="5242560" cy="73152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2240" y="207264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3440" y="2499360"/>
            <a:ext cx="47548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2135" b="1" dirty="0">
                <a:solidFill>
                  <a:srgbClr val="33415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仓储</a:t>
            </a:r>
            <a:r>
              <a:rPr lang="en-US" sz="2135" b="1" dirty="0">
                <a:solidFill>
                  <a:srgbClr val="33415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管理常见问题</a:t>
            </a:r>
            <a:r>
              <a:rPr lang="zh-CN" altLang="en-US" sz="2135" b="1" dirty="0">
                <a:solidFill>
                  <a:srgbClr val="33415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清单</a:t>
            </a:r>
            <a:endParaRPr lang="zh-CN" altLang="en-US" sz="2135" b="1" dirty="0">
              <a:solidFill>
                <a:srgbClr val="334155"/>
              </a:solidFill>
              <a:latin typeface="微软雅黑" pitchFamily="34" charset="0"/>
              <a:ea typeface="微软雅黑" charset="-122"/>
              <a:cs typeface="微软雅黑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828800" y="3230880"/>
            <a:ext cx="2804160" cy="1219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" name="Text 6"/>
          <p:cNvSpPr/>
          <p:nvPr/>
        </p:nvSpPr>
        <p:spPr>
          <a:xfrm>
            <a:off x="1219200" y="3474720"/>
            <a:ext cx="4267200" cy="426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出版社：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微软雅黑" pitchFamily="34" charset="0"/>
                <a:ea typeface="微软雅黑" pitchFamily="34" charset="0"/>
              </a:rPr>
              <a:t>地震出版社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19200" y="3962400"/>
            <a:ext cx="4267200" cy="426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出版年份：</a:t>
            </a:r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latin typeface="微软雅黑" pitchFamily="34" charset="0"/>
                <a:ea typeface="微软雅黑" pitchFamily="34" charset="0"/>
              </a:rPr>
              <a:t>2021-08-01</a:t>
            </a:r>
            <a:endParaRPr lang="en-US" altLang="zh-CN" sz="1600" dirty="0">
              <a:solidFill>
                <a:schemeClr val="bg1">
                  <a:lumMod val="75000"/>
                </a:schemeClr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219200" y="4450080"/>
            <a:ext cx="4267200" cy="426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600" dirty="0">
                <a:solidFill>
                  <a:srgbClr val="94A3B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约</a:t>
            </a:r>
            <a:r>
              <a:rPr lang="en-US" sz="1600" dirty="0">
                <a:solidFill>
                  <a:srgbClr val="94A3B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：28</a:t>
            </a:r>
            <a:r>
              <a:rPr lang="zh-CN" altLang="en-US" sz="1600" dirty="0">
                <a:solidFill>
                  <a:srgbClr val="94A3B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万</a:t>
            </a:r>
            <a:r>
              <a:rPr lang="zh-CN" altLang="en-US" sz="1600" dirty="0">
                <a:solidFill>
                  <a:srgbClr val="94A3B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字</a:t>
            </a:r>
            <a:endParaRPr lang="zh-CN" altLang="en-US" sz="1600" dirty="0">
              <a:solidFill>
                <a:srgbClr val="94A3B8"/>
              </a:solidFill>
              <a:latin typeface="微软雅黑" pitchFamily="34" charset="0"/>
              <a:ea typeface="微软雅黑" charset="-122"/>
              <a:cs typeface="微软雅黑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219200" y="4937760"/>
            <a:ext cx="4267200" cy="426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ISBN：</a:t>
            </a:r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</a:rPr>
              <a:t>9787502852269</a:t>
            </a:r>
            <a:endParaRPr lang="en-US" altLang="zh-CN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217920" y="1706880"/>
            <a:ext cx="5364480" cy="46329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6461760" y="1950720"/>
            <a:ext cx="48768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内容概述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461760" y="2560320"/>
            <a:ext cx="4876800" cy="3413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zh-CN" altLang="en-US" sz="1400" dirty="0"/>
              <a:t>✅ 系统梳理仓储管理全流程核心问题与解决方案</a:t>
            </a:r>
            <a:endParaRPr lang="zh-CN" altLang="en-US" sz="1400" dirty="0"/>
          </a:p>
          <a:p>
            <a:pPr marL="0" indent="0">
              <a:buNone/>
            </a:pPr>
            <a:endParaRPr lang="zh-CN" altLang="en-US" sz="1400" dirty="0"/>
          </a:p>
          <a:p>
            <a:pPr marL="0" indent="0">
              <a:buNone/>
            </a:pPr>
            <a:r>
              <a:rPr lang="zh-CN" altLang="en-US" sz="1400" dirty="0"/>
              <a:t>✅ 涵盖</a:t>
            </a:r>
            <a:r>
              <a:rPr lang="zh-CN" altLang="en-US" sz="1400" dirty="0">
                <a:sym typeface="+mn-ea"/>
              </a:rPr>
              <a:t>仓储工作常见问题（仓库规划、库容计算、堆码技术、拣货策略、库存管理、盘点流程等）</a:t>
            </a:r>
            <a:r>
              <a:rPr lang="en-US" altLang="zh-CN" sz="1400" dirty="0">
                <a:sym typeface="+mn-ea"/>
              </a:rPr>
              <a:t>，</a:t>
            </a:r>
            <a:r>
              <a:rPr lang="zh-CN" altLang="en-US" sz="1400" dirty="0">
                <a:sym typeface="+mn-ea"/>
              </a:rPr>
              <a:t>重新定义每一项仓储工作提供规范性操作指导 + 经验性总结提示</a:t>
            </a:r>
            <a:endParaRPr lang="zh-CN" altLang="en-US" sz="1400" dirty="0"/>
          </a:p>
          <a:p>
            <a:pPr marL="0" indent="0">
              <a:buNone/>
            </a:pPr>
            <a:endParaRPr lang="zh-CN" altLang="en-US" sz="1400" dirty="0"/>
          </a:p>
          <a:p>
            <a:pPr marL="0" indent="0">
              <a:buNone/>
            </a:pPr>
            <a:r>
              <a:rPr lang="zh-CN" altLang="en-US" sz="1400" dirty="0"/>
              <a:t>✅ 适合仓储经理、供应链管理者、电商运营人员阅读</a:t>
            </a:r>
            <a:endParaRPr lang="zh-CN" altLang="en-US" sz="1400" dirty="0"/>
          </a:p>
          <a:p>
            <a:pPr marL="0" indent="0">
              <a:buNone/>
            </a:pPr>
            <a:r>
              <a:rPr lang="zh-CN" altLang="en-US" sz="1400" dirty="0"/>
              <a:t>倡导"仓储工作清单式管理"</a:t>
            </a:r>
            <a:endParaRPr lang="zh-CN" altLang="en-US" sz="1400" dirty="0"/>
          </a:p>
          <a:p>
            <a:pPr marL="0" indent="0">
              <a:buNone/>
            </a:pPr>
            <a:endParaRPr lang="en-US" altLang="zh-CN" sz="1400" dirty="0"/>
          </a:p>
        </p:txBody>
      </p:sp>
      <p:sp>
        <p:nvSpPr>
          <p:cNvPr id="16" name="Text 4"/>
          <p:cNvSpPr/>
          <p:nvPr/>
        </p:nvSpPr>
        <p:spPr>
          <a:xfrm>
            <a:off x="6461760" y="4511040"/>
            <a:ext cx="5150485" cy="14624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800" dirty="0">
                <a:solidFill>
                  <a:schemeClr val="accent2">
                    <a:lumMod val="75000"/>
                  </a:schemeClr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本次分享挑选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内容涵盖：</a:t>
            </a:r>
            <a:r>
              <a:rPr lang="zh-CN" altLang="en-US" sz="1800" dirty="0">
                <a:solidFill>
                  <a:schemeClr val="accent2">
                    <a:lumMod val="75000"/>
                  </a:schemeClr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仓库类型介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微软雅黑" pitchFamily="34" charset="0"/>
                <a:ea typeface="微软雅黑" charset="-122"/>
                <a:cs typeface="微软雅黑" pitchFamily="34" charset="-120"/>
                <a:sym typeface="+mn-ea"/>
              </a:rPr>
              <a:t>· </a:t>
            </a:r>
            <a:r>
              <a:rPr lang="zh-CN" altLang="en-US" sz="1800" dirty="0">
                <a:solidFill>
                  <a:schemeClr val="accent2">
                    <a:lumMod val="75000"/>
                  </a:schemeClr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绍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盘点方法 ·  WMS指标</a:t>
            </a:r>
            <a:r>
              <a:rPr lang="zh-CN" altLang="en-US" sz="1800" dirty="0">
                <a:solidFill>
                  <a:schemeClr val="accent2">
                    <a:lumMod val="75000"/>
                  </a:schemeClr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分析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微软雅黑" pitchFamily="34" charset="0"/>
                <a:ea typeface="微软雅黑" charset="-122"/>
                <a:cs typeface="微软雅黑" pitchFamily="34" charset="-120"/>
                <a:sym typeface="+mn-ea"/>
              </a:rPr>
              <a:t>· 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微软雅黑" pitchFamily="34" charset="0"/>
                <a:ea typeface="微软雅黑" charset="-122"/>
                <a:cs typeface="微软雅黑" pitchFamily="34" charset="-120"/>
                <a:sym typeface="+mn-ea"/>
              </a:rPr>
              <a:t>堆版技术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· 拣货方式 · 库存预测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微软雅黑" pitchFamily="34" charset="0"/>
                <a:ea typeface="微软雅黑" charset="-122"/>
                <a:cs typeface="微软雅黑" pitchFamily="34" charset="-120"/>
                <a:sym typeface="+mn-ea"/>
              </a:rPr>
              <a:t>· 0库存实现 ·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微软雅黑" pitchFamily="34" charset="0"/>
                <a:ea typeface="微软雅黑" charset="-122"/>
                <a:cs typeface="微软雅黑" pitchFamily="34" charset="-120"/>
                <a:sym typeface="+mn-ea"/>
              </a:rPr>
              <a:t>仓库管理模式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微软雅黑" pitchFamily="34" charset="0"/>
                <a:ea typeface="微软雅黑" charset="-122"/>
                <a:cs typeface="微软雅黑" pitchFamily="34" charset="-120"/>
                <a:sym typeface="+mn-ea"/>
              </a:rPr>
              <a:t>，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微软雅黑" pitchFamily="34" charset="0"/>
                <a:ea typeface="微软雅黑" charset="-122"/>
                <a:cs typeface="微软雅黑" pitchFamily="34" charset="-120"/>
                <a:sym typeface="+mn-ea"/>
              </a:rPr>
              <a:t>分享形式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微软雅黑" pitchFamily="34" charset="0"/>
                <a:ea typeface="微软雅黑" charset="-122"/>
                <a:cs typeface="微软雅黑" pitchFamily="34" charset="-120"/>
                <a:sym typeface="+mn-ea"/>
              </a:rPr>
              <a:t>：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微软雅黑" pitchFamily="34" charset="0"/>
                <a:ea typeface="微软雅黑" charset="-122"/>
                <a:cs typeface="微软雅黑" pitchFamily="34" charset="-120"/>
                <a:sym typeface="+mn-ea"/>
              </a:rPr>
              <a:t>本书干货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微软雅黑" pitchFamily="34" charset="0"/>
                <a:ea typeface="微软雅黑" charset="-122"/>
                <a:cs typeface="微软雅黑" pitchFamily="34" charset="-120"/>
                <a:sym typeface="+mn-ea"/>
              </a:rPr>
              <a:t>提取所需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微软雅黑" pitchFamily="34" charset="0"/>
                <a:ea typeface="微软雅黑" charset="-122"/>
                <a:cs typeface="微软雅黑" pitchFamily="34" charset="-120"/>
                <a:sym typeface="+mn-ea"/>
              </a:rPr>
              <a:t>+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微软雅黑" pitchFamily="34" charset="0"/>
                <a:ea typeface="微软雅黑" charset="-122"/>
                <a:cs typeface="微软雅黑" pitchFamily="34" charset="-120"/>
                <a:sym typeface="+mn-ea"/>
              </a:rPr>
              <a:t>结合实际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微软雅黑" pitchFamily="34" charset="0"/>
                <a:ea typeface="微软雅黑" charset="-122"/>
                <a:cs typeface="微软雅黑" pitchFamily="34" charset="-120"/>
                <a:sym typeface="+mn-ea"/>
              </a:rPr>
              <a:t>开放探讨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微软雅黑" pitchFamily="34" charset="0"/>
              <a:ea typeface="微软雅黑" charset="-122"/>
              <a:cs typeface="微软雅黑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609600" y="2438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02仓库</a:t>
            </a:r>
            <a:r>
              <a:rPr lang="zh-CN" altLang="en-US" sz="3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类型</a:t>
            </a:r>
            <a:r>
              <a:rPr lang="zh-CN" altLang="en-US" sz="3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介绍</a:t>
            </a:r>
            <a:endParaRPr lang="zh-CN" altLang="en-US" sz="3465" b="1" dirty="0">
              <a:solidFill>
                <a:srgbClr val="FFFFFF"/>
              </a:solidFill>
              <a:latin typeface="微软雅黑" pitchFamily="34" charset="0"/>
              <a:ea typeface="微软雅黑" charset="-122"/>
              <a:cs typeface="微软雅黑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26720" y="1341120"/>
            <a:ext cx="2804160" cy="524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6720" y="1341120"/>
            <a:ext cx="2804160" cy="853440"/>
          </a:xfrm>
          <a:prstGeom prst="rect">
            <a:avLst/>
          </a:prstGeom>
          <a:solidFill>
            <a:srgbClr val="1976D2"/>
          </a:solidFill>
        </p:spPr>
      </p:sp>
      <p:sp>
        <p:nvSpPr>
          <p:cNvPr id="6" name="Text 4"/>
          <p:cNvSpPr/>
          <p:nvPr/>
        </p:nvSpPr>
        <p:spPr>
          <a:xfrm>
            <a:off x="426720" y="1402080"/>
            <a:ext cx="2804160" cy="426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🏗️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26720" y="1828800"/>
            <a:ext cx="2804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平面仓库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3164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特点</a:t>
            </a:r>
            <a:endParaRPr lang="en-US" sz="1335" dirty="0"/>
          </a:p>
        </p:txBody>
      </p:sp>
      <p:sp>
        <p:nvSpPr>
          <p:cNvPr id="9" name="Text 7"/>
          <p:cNvSpPr/>
          <p:nvPr/>
        </p:nvSpPr>
        <p:spPr>
          <a:xfrm>
            <a:off x="548640" y="2621280"/>
            <a:ext cx="25603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• 单层建筑，结构简单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962656"/>
            <a:ext cx="25603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• 土地利用率较低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304032"/>
            <a:ext cx="25603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• 适合大宗货物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2560320" cy="2438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3" name="Text 11"/>
          <p:cNvSpPr/>
          <p:nvPr/>
        </p:nvSpPr>
        <p:spPr>
          <a:xfrm>
            <a:off x="548640" y="377952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适用</a:t>
            </a:r>
            <a:endParaRPr lang="en-US" sz="1335" dirty="0"/>
          </a:p>
        </p:txBody>
      </p:sp>
      <p:sp>
        <p:nvSpPr>
          <p:cNvPr id="14" name="Text 12"/>
          <p:cNvSpPr/>
          <p:nvPr/>
        </p:nvSpPr>
        <p:spPr>
          <a:xfrm>
            <a:off x="548640" y="4084320"/>
            <a:ext cx="256032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煤炭/建材/粮食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2560320" cy="2438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6" name="Text 14"/>
          <p:cNvSpPr/>
          <p:nvPr/>
        </p:nvSpPr>
        <p:spPr>
          <a:xfrm>
            <a:off x="548640" y="487680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成本投入</a:t>
            </a:r>
            <a:endParaRPr lang="en-US" sz="1335" dirty="0"/>
          </a:p>
        </p:txBody>
      </p:sp>
      <p:sp>
        <p:nvSpPr>
          <p:cNvPr id="17" name="Text 15"/>
          <p:cNvSpPr/>
          <p:nvPr/>
        </p:nvSpPr>
        <p:spPr>
          <a:xfrm>
            <a:off x="548640" y="518160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投入：★★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48640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976D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自动化：★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52800" y="1341120"/>
            <a:ext cx="2804160" cy="524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52800" y="1341120"/>
            <a:ext cx="2804160" cy="853440"/>
          </a:xfrm>
          <a:prstGeom prst="rect">
            <a:avLst/>
          </a:prstGeom>
          <a:solidFill>
            <a:srgbClr val="1976D2"/>
          </a:solidFill>
        </p:spPr>
      </p:sp>
      <p:sp>
        <p:nvSpPr>
          <p:cNvPr id="21" name="Text 19"/>
          <p:cNvSpPr/>
          <p:nvPr/>
        </p:nvSpPr>
        <p:spPr>
          <a:xfrm>
            <a:off x="3352800" y="1402080"/>
            <a:ext cx="2804160" cy="426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352800" y="1828800"/>
            <a:ext cx="2804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立体仓库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74720" y="23164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特点</a:t>
            </a:r>
            <a:endParaRPr lang="en-US" sz="1335" dirty="0"/>
          </a:p>
        </p:txBody>
      </p:sp>
      <p:sp>
        <p:nvSpPr>
          <p:cNvPr id="24" name="Text 22"/>
          <p:cNvSpPr/>
          <p:nvPr/>
        </p:nvSpPr>
        <p:spPr>
          <a:xfrm>
            <a:off x="3474720" y="2621280"/>
            <a:ext cx="25603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• 高层货架（10-30m）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2962656"/>
            <a:ext cx="25603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• 叉车/堆垛机作业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0" y="3304032"/>
            <a:ext cx="25603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• 土地利用率高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74720" y="3657600"/>
            <a:ext cx="2560320" cy="2438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8" name="Text 26"/>
          <p:cNvSpPr/>
          <p:nvPr/>
        </p:nvSpPr>
        <p:spPr>
          <a:xfrm>
            <a:off x="3474720" y="377952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适用</a:t>
            </a:r>
            <a:endParaRPr lang="en-US" sz="1335" dirty="0"/>
          </a:p>
        </p:txBody>
      </p:sp>
      <p:sp>
        <p:nvSpPr>
          <p:cNvPr id="29" name="Text 27"/>
          <p:cNvSpPr/>
          <p:nvPr/>
        </p:nvSpPr>
        <p:spPr>
          <a:xfrm>
            <a:off x="3474720" y="4084320"/>
            <a:ext cx="256032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电商/医药/精密仪器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474720" y="4754880"/>
            <a:ext cx="2560320" cy="2438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1" name="Text 29"/>
          <p:cNvSpPr/>
          <p:nvPr/>
        </p:nvSpPr>
        <p:spPr>
          <a:xfrm>
            <a:off x="3474720" y="487680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成本投入</a:t>
            </a:r>
            <a:endParaRPr lang="en-US" sz="1335" dirty="0"/>
          </a:p>
        </p:txBody>
      </p:sp>
      <p:sp>
        <p:nvSpPr>
          <p:cNvPr id="32" name="Text 30"/>
          <p:cNvSpPr/>
          <p:nvPr/>
        </p:nvSpPr>
        <p:spPr>
          <a:xfrm>
            <a:off x="3474720" y="518160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投入：★★★★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74720" y="548640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976D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自动化：★★★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78880" y="1341120"/>
            <a:ext cx="2804160" cy="524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78880" y="1341120"/>
            <a:ext cx="2804160" cy="853440"/>
          </a:xfrm>
          <a:prstGeom prst="rect">
            <a:avLst/>
          </a:prstGeom>
          <a:solidFill>
            <a:srgbClr val="1976D2"/>
          </a:solidFill>
        </p:spPr>
      </p:sp>
      <p:sp>
        <p:nvSpPr>
          <p:cNvPr id="36" name="Text 34"/>
          <p:cNvSpPr/>
          <p:nvPr/>
        </p:nvSpPr>
        <p:spPr>
          <a:xfrm>
            <a:off x="6278880" y="1402080"/>
            <a:ext cx="2804160" cy="426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278880" y="1828800"/>
            <a:ext cx="2804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智能仓库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0800" y="23164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特点</a:t>
            </a:r>
            <a:endParaRPr lang="en-US" sz="1335" dirty="0"/>
          </a:p>
        </p:txBody>
      </p:sp>
      <p:sp>
        <p:nvSpPr>
          <p:cNvPr id="39" name="Text 37"/>
          <p:cNvSpPr/>
          <p:nvPr/>
        </p:nvSpPr>
        <p:spPr>
          <a:xfrm>
            <a:off x="6400800" y="2621280"/>
            <a:ext cx="25603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• AGV/AMR自动搬运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0" y="2962656"/>
            <a:ext cx="25603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• WMS+SCM系统集成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0" y="3304032"/>
            <a:ext cx="25603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• 无人化作业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00800" y="3657600"/>
            <a:ext cx="2560320" cy="2438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43" name="Text 41"/>
          <p:cNvSpPr/>
          <p:nvPr/>
        </p:nvSpPr>
        <p:spPr>
          <a:xfrm>
            <a:off x="6400800" y="377952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适用</a:t>
            </a:r>
            <a:endParaRPr lang="en-US" sz="1335" dirty="0"/>
          </a:p>
        </p:txBody>
      </p:sp>
      <p:sp>
        <p:nvSpPr>
          <p:cNvPr id="44" name="Text 42"/>
          <p:cNvSpPr/>
          <p:nvPr/>
        </p:nvSpPr>
        <p:spPr>
          <a:xfrm>
            <a:off x="6400800" y="4084320"/>
            <a:ext cx="256032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大型电商/物流中心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00800" y="4754880"/>
            <a:ext cx="2560320" cy="2438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46" name="Text 44"/>
          <p:cNvSpPr/>
          <p:nvPr/>
        </p:nvSpPr>
        <p:spPr>
          <a:xfrm>
            <a:off x="6400800" y="487680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成本投入</a:t>
            </a:r>
            <a:endParaRPr lang="en-US" sz="1335" dirty="0"/>
          </a:p>
        </p:txBody>
      </p:sp>
      <p:sp>
        <p:nvSpPr>
          <p:cNvPr id="47" name="Text 45"/>
          <p:cNvSpPr/>
          <p:nvPr/>
        </p:nvSpPr>
        <p:spPr>
          <a:xfrm>
            <a:off x="6400800" y="518160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投入：★★★★★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00800" y="548640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976D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自动化：★★★★★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204960" y="1341120"/>
            <a:ext cx="2804160" cy="524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204960" y="1341120"/>
            <a:ext cx="2804160" cy="853440"/>
          </a:xfrm>
          <a:prstGeom prst="rect">
            <a:avLst/>
          </a:prstGeom>
          <a:solidFill>
            <a:srgbClr val="1976D2"/>
          </a:solidFill>
        </p:spPr>
      </p:sp>
      <p:sp>
        <p:nvSpPr>
          <p:cNvPr id="51" name="Text 49"/>
          <p:cNvSpPr/>
          <p:nvPr/>
        </p:nvSpPr>
        <p:spPr>
          <a:xfrm>
            <a:off x="9204960" y="1402080"/>
            <a:ext cx="2804160" cy="426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🛃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9204960" y="1828800"/>
            <a:ext cx="2804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保税仓库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326880" y="23164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特点</a:t>
            </a:r>
            <a:endParaRPr lang="en-US" sz="1335" dirty="0"/>
          </a:p>
        </p:txBody>
      </p:sp>
      <p:sp>
        <p:nvSpPr>
          <p:cNvPr id="54" name="Text 52"/>
          <p:cNvSpPr/>
          <p:nvPr/>
        </p:nvSpPr>
        <p:spPr>
          <a:xfrm>
            <a:off x="9326880" y="2621280"/>
            <a:ext cx="25603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• 海关监管区域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326880" y="2962656"/>
            <a:ext cx="25603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• 关税可延迟缴纳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326880" y="3304032"/>
            <a:ext cx="25603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• 进出境需报关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326880" y="3657600"/>
            <a:ext cx="2560320" cy="2438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58" name="Text 56"/>
          <p:cNvSpPr/>
          <p:nvPr/>
        </p:nvSpPr>
        <p:spPr>
          <a:xfrm>
            <a:off x="9326880" y="377952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适用</a:t>
            </a:r>
            <a:endParaRPr lang="en-US" sz="1335" dirty="0"/>
          </a:p>
        </p:txBody>
      </p:sp>
      <p:sp>
        <p:nvSpPr>
          <p:cNvPr id="59" name="Text 57"/>
          <p:cNvSpPr/>
          <p:nvPr/>
        </p:nvSpPr>
        <p:spPr>
          <a:xfrm>
            <a:off x="9326880" y="4084320"/>
            <a:ext cx="256032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进出口企业/自贸区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326880" y="4754880"/>
            <a:ext cx="2560320" cy="2438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61" name="Text 59"/>
          <p:cNvSpPr/>
          <p:nvPr/>
        </p:nvSpPr>
        <p:spPr>
          <a:xfrm>
            <a:off x="9326880" y="487680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成本投入</a:t>
            </a:r>
            <a:endParaRPr lang="en-US" sz="1335" dirty="0"/>
          </a:p>
        </p:txBody>
      </p:sp>
      <p:sp>
        <p:nvSpPr>
          <p:cNvPr id="62" name="Text 60"/>
          <p:cNvSpPr/>
          <p:nvPr/>
        </p:nvSpPr>
        <p:spPr>
          <a:xfrm>
            <a:off x="9326880" y="518160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投入：★★★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9326880" y="548640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976D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自动化：★★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609600" y="304800"/>
            <a:ext cx="10972800" cy="73152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73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仓库库容</a:t>
            </a:r>
            <a:r>
              <a:rPr lang="en-US" sz="373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计算方法（</a:t>
            </a:r>
            <a:r>
              <a:rPr lang="zh-CN" altLang="en-US" sz="373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常规矩形</a:t>
            </a:r>
            <a:r>
              <a:rPr lang="en-US" sz="373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）</a:t>
            </a:r>
            <a:endParaRPr lang="en-US" sz="3735" dirty="0"/>
          </a:p>
        </p:txBody>
      </p:sp>
      <p:sp>
        <p:nvSpPr>
          <p:cNvPr id="4" name="Shape 2"/>
          <p:cNvSpPr/>
          <p:nvPr/>
        </p:nvSpPr>
        <p:spPr>
          <a:xfrm>
            <a:off x="609600" y="1584960"/>
            <a:ext cx="10972800" cy="1706880"/>
          </a:xfrm>
          <a:prstGeom prst="roundRect">
            <a:avLst>
              <a:gd name="adj" fmla="val 7143"/>
            </a:avLst>
          </a:prstGeom>
          <a:solidFill>
            <a:srgbClr val="E3F2FD"/>
          </a:solidFill>
        </p:spPr>
      </p:sp>
      <p:sp>
        <p:nvSpPr>
          <p:cNvPr id="5" name="Text 3"/>
          <p:cNvSpPr/>
          <p:nvPr/>
        </p:nvSpPr>
        <p:spPr>
          <a:xfrm>
            <a:off x="853440" y="1706880"/>
            <a:ext cx="365760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库容计算公式</a:t>
            </a:r>
            <a:endParaRPr lang="en-US" sz="1865" dirty="0"/>
          </a:p>
        </p:txBody>
      </p:sp>
      <p:sp>
        <p:nvSpPr>
          <p:cNvPr id="6" name="Text 4"/>
          <p:cNvSpPr/>
          <p:nvPr/>
        </p:nvSpPr>
        <p:spPr>
          <a:xfrm>
            <a:off x="853440" y="2255520"/>
            <a:ext cx="103632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可用品面积 = 仓库总面积 × 可利用率（通常65%-75%）</a:t>
            </a:r>
            <a:endParaRPr lang="en-US" sz="1865" dirty="0"/>
          </a:p>
        </p:txBody>
      </p:sp>
      <p:sp>
        <p:nvSpPr>
          <p:cNvPr id="7" name="Text 5"/>
          <p:cNvSpPr/>
          <p:nvPr/>
        </p:nvSpPr>
        <p:spPr>
          <a:xfrm>
            <a:off x="853440" y="2682240"/>
            <a:ext cx="103632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最大存储量 = 可用品面积 ÷ 单个货位面积 × 层数</a:t>
            </a:r>
            <a:endParaRPr lang="en-US" sz="1865" dirty="0"/>
          </a:p>
        </p:txBody>
      </p:sp>
      <p:sp>
        <p:nvSpPr>
          <p:cNvPr id="8" name="Shape 6"/>
          <p:cNvSpPr/>
          <p:nvPr/>
        </p:nvSpPr>
        <p:spPr>
          <a:xfrm>
            <a:off x="609600" y="3535680"/>
            <a:ext cx="3535680" cy="28041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" y="3657600"/>
            <a:ext cx="3535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平面库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26720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存储量 = 长 × 宽 × 堆高 ÷ 单品体积</a:t>
            </a:r>
            <a:endParaRPr lang="en-US" sz="1465" dirty="0"/>
          </a:p>
        </p:txBody>
      </p:sp>
      <p:sp>
        <p:nvSpPr>
          <p:cNvPr id="11" name="Text 9"/>
          <p:cNvSpPr/>
          <p:nvPr/>
        </p:nvSpPr>
        <p:spPr>
          <a:xfrm>
            <a:off x="609600" y="5486400"/>
            <a:ext cx="353568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35" dirty="0">
                <a:solidFill>
                  <a:srgbClr val="75757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可利用系数: 0.6-0.7</a:t>
            </a:r>
            <a:endParaRPr lang="en-US" sz="1335" dirty="0"/>
          </a:p>
        </p:txBody>
      </p:sp>
      <p:sp>
        <p:nvSpPr>
          <p:cNvPr id="12" name="Shape 10"/>
          <p:cNvSpPr/>
          <p:nvPr/>
        </p:nvSpPr>
        <p:spPr>
          <a:xfrm>
            <a:off x="4389120" y="3535680"/>
            <a:ext cx="3535680" cy="28041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3657600"/>
            <a:ext cx="3535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立体库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11040" y="426720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存储量 = 库位数 × 每位层数 × 每层货箱数</a:t>
            </a:r>
            <a:endParaRPr lang="en-US" sz="1465" dirty="0"/>
          </a:p>
        </p:txBody>
      </p:sp>
      <p:sp>
        <p:nvSpPr>
          <p:cNvPr id="15" name="Text 13"/>
          <p:cNvSpPr/>
          <p:nvPr/>
        </p:nvSpPr>
        <p:spPr>
          <a:xfrm>
            <a:off x="4389120" y="5486400"/>
            <a:ext cx="353568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35" dirty="0">
                <a:solidFill>
                  <a:srgbClr val="75757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巷道占30%空间</a:t>
            </a:r>
            <a:endParaRPr lang="en-US" sz="1335" dirty="0"/>
          </a:p>
        </p:txBody>
      </p:sp>
      <p:sp>
        <p:nvSpPr>
          <p:cNvPr id="16" name="Shape 14"/>
          <p:cNvSpPr/>
          <p:nvPr/>
        </p:nvSpPr>
        <p:spPr>
          <a:xfrm>
            <a:off x="8168640" y="3535680"/>
            <a:ext cx="3535680" cy="28041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68640" y="3657600"/>
            <a:ext cx="3535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货架库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90560" y="426720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存储量 = 货架组数 × 每组层数 × 每层位数</a:t>
            </a:r>
            <a:endParaRPr lang="en-US" sz="1465" dirty="0"/>
          </a:p>
        </p:txBody>
      </p:sp>
      <p:sp>
        <p:nvSpPr>
          <p:cNvPr id="19" name="Text 17"/>
          <p:cNvSpPr/>
          <p:nvPr/>
        </p:nvSpPr>
        <p:spPr>
          <a:xfrm>
            <a:off x="8168640" y="5486400"/>
            <a:ext cx="353568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35" dirty="0">
                <a:solidFill>
                  <a:srgbClr val="75757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需考虑通道宽度</a:t>
            </a:r>
            <a:endParaRPr lang="en-US" sz="133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4472C4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  仓库库容计算方法</a:t>
            </a:r>
            <a:endParaRPr lang="en-US" sz="4265" dirty="0"/>
          </a:p>
        </p:txBody>
      </p:sp>
      <p:sp>
        <p:nvSpPr>
          <p:cNvPr id="4" name="Shape 2"/>
          <p:cNvSpPr/>
          <p:nvPr/>
        </p:nvSpPr>
        <p:spPr>
          <a:xfrm>
            <a:off x="487680" y="1524000"/>
            <a:ext cx="3657600" cy="50596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7680" y="1524000"/>
            <a:ext cx="3657600" cy="97536"/>
          </a:xfrm>
          <a:prstGeom prst="rect">
            <a:avLst/>
          </a:prstGeom>
          <a:solidFill>
            <a:srgbClr val="4472C4"/>
          </a:solidFill>
        </p:spPr>
      </p:sp>
      <p:sp>
        <p:nvSpPr>
          <p:cNvPr id="6" name="Text 4"/>
          <p:cNvSpPr/>
          <p:nvPr/>
        </p:nvSpPr>
        <p:spPr>
          <a:xfrm>
            <a:off x="670560" y="1645920"/>
            <a:ext cx="329184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472C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📐 比较类推法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70560" y="2097024"/>
            <a:ext cx="3291840" cy="512064"/>
          </a:xfrm>
          <a:prstGeom prst="roundRect">
            <a:avLst>
              <a:gd name="adj" fmla="val 11905"/>
            </a:avLst>
          </a:prstGeom>
          <a:solidFill>
            <a:srgbClr val="E3F2FD"/>
          </a:solidFill>
        </p:spPr>
      </p:sp>
      <p:sp>
        <p:nvSpPr>
          <p:cNvPr id="8" name="Text 6"/>
          <p:cNvSpPr/>
          <p:nvPr/>
        </p:nvSpPr>
        <p:spPr>
          <a:xfrm>
            <a:off x="670560" y="2097024"/>
            <a:ext cx="32918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5" b="1" dirty="0">
                <a:solidFill>
                  <a:srgbClr val="447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S₁ × (Q/Q₁) × K</a:t>
            </a:r>
            <a:endParaRPr lang="en-US" sz="1735" dirty="0"/>
          </a:p>
        </p:txBody>
      </p:sp>
      <p:sp>
        <p:nvSpPr>
          <p:cNvPr id="9" name="Text 7"/>
          <p:cNvSpPr/>
          <p:nvPr/>
        </p:nvSpPr>
        <p:spPr>
          <a:xfrm>
            <a:off x="670560" y="2657856"/>
            <a:ext cx="329184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公式含义：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0560" y="2901696"/>
            <a:ext cx="329184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666666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新库面积 = 参照库面积 × (新库储量÷参照库储量) × 调整系数</a:t>
            </a:r>
            <a:endParaRPr lang="en-US" sz="1065" dirty="0"/>
          </a:p>
        </p:txBody>
      </p:sp>
      <p:sp>
        <p:nvSpPr>
          <p:cNvPr id="11" name="Shape 9"/>
          <p:cNvSpPr/>
          <p:nvPr/>
        </p:nvSpPr>
        <p:spPr>
          <a:xfrm>
            <a:off x="853440" y="3316224"/>
            <a:ext cx="2926080" cy="18288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2" name="Text 10"/>
          <p:cNvSpPr/>
          <p:nvPr/>
        </p:nvSpPr>
        <p:spPr>
          <a:xfrm>
            <a:off x="670560" y="3352800"/>
            <a:ext cx="329184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72C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各参数如何得出：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0560" y="3633216"/>
            <a:ext cx="4267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447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335" dirty="0"/>
          </a:p>
        </p:txBody>
      </p:sp>
      <p:sp>
        <p:nvSpPr>
          <p:cNvPr id="14" name="Shape 12"/>
          <p:cNvSpPr/>
          <p:nvPr/>
        </p:nvSpPr>
        <p:spPr>
          <a:xfrm>
            <a:off x="1121664" y="3645408"/>
            <a:ext cx="487680" cy="219456"/>
          </a:xfrm>
          <a:prstGeom prst="roundRect">
            <a:avLst>
              <a:gd name="adj" fmla="val 16667"/>
            </a:avLst>
          </a:prstGeom>
          <a:solidFill>
            <a:srgbClr val="FFF3E0"/>
          </a:solidFill>
        </p:spPr>
      </p:sp>
      <p:sp>
        <p:nvSpPr>
          <p:cNvPr id="15" name="Text 13"/>
          <p:cNvSpPr/>
          <p:nvPr/>
        </p:nvSpPr>
        <p:spPr>
          <a:xfrm>
            <a:off x="1121664" y="3645408"/>
            <a:ext cx="487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5" b="1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求的目标</a:t>
            </a:r>
            <a:endParaRPr lang="en-US" sz="935" dirty="0"/>
          </a:p>
        </p:txBody>
      </p:sp>
      <p:sp>
        <p:nvSpPr>
          <p:cNvPr id="16" name="Text 14"/>
          <p:cNvSpPr/>
          <p:nvPr/>
        </p:nvSpPr>
        <p:spPr>
          <a:xfrm>
            <a:off x="1645920" y="3645408"/>
            <a:ext cx="22555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新建仓库需要多大面积？</a:t>
            </a:r>
            <a:endParaRPr lang="en-US" sz="1065" dirty="0"/>
          </a:p>
        </p:txBody>
      </p:sp>
      <p:sp>
        <p:nvSpPr>
          <p:cNvPr id="17" name="Text 15"/>
          <p:cNvSpPr/>
          <p:nvPr/>
        </p:nvSpPr>
        <p:spPr>
          <a:xfrm>
            <a:off x="670560" y="3925824"/>
            <a:ext cx="4267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447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S₁</a:t>
            </a:r>
            <a:endParaRPr lang="en-US" sz="1335" dirty="0"/>
          </a:p>
        </p:txBody>
      </p:sp>
      <p:sp>
        <p:nvSpPr>
          <p:cNvPr id="18" name="Shape 16"/>
          <p:cNvSpPr/>
          <p:nvPr/>
        </p:nvSpPr>
        <p:spPr>
          <a:xfrm>
            <a:off x="1121664" y="3938016"/>
            <a:ext cx="487680" cy="219456"/>
          </a:xfrm>
          <a:prstGeom prst="roundRect">
            <a:avLst>
              <a:gd name="adj" fmla="val 16667"/>
            </a:avLst>
          </a:prstGeom>
          <a:solidFill>
            <a:srgbClr val="FFF3E0"/>
          </a:solidFill>
        </p:spPr>
      </p:sp>
      <p:sp>
        <p:nvSpPr>
          <p:cNvPr id="19" name="Text 17"/>
          <p:cNvSpPr/>
          <p:nvPr/>
        </p:nvSpPr>
        <p:spPr>
          <a:xfrm>
            <a:off x="1121664" y="3938016"/>
            <a:ext cx="487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5" b="1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查</a:t>
            </a:r>
            <a:endParaRPr lang="en-US" sz="935" dirty="0"/>
          </a:p>
        </p:txBody>
      </p:sp>
      <p:sp>
        <p:nvSpPr>
          <p:cNvPr id="20" name="Text 18"/>
          <p:cNvSpPr/>
          <p:nvPr/>
        </p:nvSpPr>
        <p:spPr>
          <a:xfrm>
            <a:off x="1645920" y="3938016"/>
            <a:ext cx="22555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参照同类仓库的已知面积</a:t>
            </a:r>
            <a:endParaRPr lang="en-US" sz="1065" dirty="0"/>
          </a:p>
        </p:txBody>
      </p:sp>
      <p:sp>
        <p:nvSpPr>
          <p:cNvPr id="21" name="Text 19"/>
          <p:cNvSpPr/>
          <p:nvPr/>
        </p:nvSpPr>
        <p:spPr>
          <a:xfrm>
            <a:off x="670560" y="4218432"/>
            <a:ext cx="4267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447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335" dirty="0"/>
          </a:p>
        </p:txBody>
      </p:sp>
      <p:sp>
        <p:nvSpPr>
          <p:cNvPr id="22" name="Shape 20"/>
          <p:cNvSpPr/>
          <p:nvPr/>
        </p:nvSpPr>
        <p:spPr>
          <a:xfrm>
            <a:off x="1121664" y="4230624"/>
            <a:ext cx="487680" cy="219456"/>
          </a:xfrm>
          <a:prstGeom prst="roundRect">
            <a:avLst>
              <a:gd name="adj" fmla="val 16667"/>
            </a:avLst>
          </a:prstGeom>
          <a:solidFill>
            <a:srgbClr val="FFF3E0"/>
          </a:solidFill>
        </p:spPr>
      </p:sp>
      <p:sp>
        <p:nvSpPr>
          <p:cNvPr id="23" name="Text 21"/>
          <p:cNvSpPr/>
          <p:nvPr/>
        </p:nvSpPr>
        <p:spPr>
          <a:xfrm>
            <a:off x="1121664" y="4230624"/>
            <a:ext cx="487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5" b="1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算</a:t>
            </a:r>
            <a:endParaRPr lang="en-US" sz="935" dirty="0"/>
          </a:p>
        </p:txBody>
      </p:sp>
      <p:sp>
        <p:nvSpPr>
          <p:cNvPr id="24" name="Text 22"/>
          <p:cNvSpPr/>
          <p:nvPr/>
        </p:nvSpPr>
        <p:spPr>
          <a:xfrm>
            <a:off x="1645920" y="4230624"/>
            <a:ext cx="22555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根据年销量÷周转次数=最大库存量</a:t>
            </a:r>
            <a:endParaRPr lang="en-US" sz="1065" dirty="0"/>
          </a:p>
        </p:txBody>
      </p:sp>
      <p:sp>
        <p:nvSpPr>
          <p:cNvPr id="25" name="Text 23"/>
          <p:cNvSpPr/>
          <p:nvPr/>
        </p:nvSpPr>
        <p:spPr>
          <a:xfrm>
            <a:off x="670560" y="4511040"/>
            <a:ext cx="4267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447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Q₁</a:t>
            </a:r>
            <a:endParaRPr lang="en-US" sz="1335" dirty="0"/>
          </a:p>
        </p:txBody>
      </p:sp>
      <p:sp>
        <p:nvSpPr>
          <p:cNvPr id="26" name="Shape 24"/>
          <p:cNvSpPr/>
          <p:nvPr/>
        </p:nvSpPr>
        <p:spPr>
          <a:xfrm>
            <a:off x="1121664" y="4523232"/>
            <a:ext cx="487680" cy="219456"/>
          </a:xfrm>
          <a:prstGeom prst="roundRect">
            <a:avLst>
              <a:gd name="adj" fmla="val 16667"/>
            </a:avLst>
          </a:prstGeom>
          <a:solidFill>
            <a:srgbClr val="FFF3E0"/>
          </a:solidFill>
        </p:spPr>
      </p:sp>
      <p:sp>
        <p:nvSpPr>
          <p:cNvPr id="27" name="Text 25"/>
          <p:cNvSpPr/>
          <p:nvPr/>
        </p:nvSpPr>
        <p:spPr>
          <a:xfrm>
            <a:off x="1121664" y="4523232"/>
            <a:ext cx="487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5" b="1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查</a:t>
            </a:r>
            <a:endParaRPr lang="en-US" sz="935" dirty="0"/>
          </a:p>
        </p:txBody>
      </p:sp>
      <p:sp>
        <p:nvSpPr>
          <p:cNvPr id="28" name="Text 26"/>
          <p:cNvSpPr/>
          <p:nvPr/>
        </p:nvSpPr>
        <p:spPr>
          <a:xfrm>
            <a:off x="1645920" y="4523232"/>
            <a:ext cx="22555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参照库的历史最大库存量</a:t>
            </a:r>
            <a:endParaRPr lang="en-US" sz="1065" dirty="0"/>
          </a:p>
        </p:txBody>
      </p:sp>
      <p:sp>
        <p:nvSpPr>
          <p:cNvPr id="29" name="Text 27"/>
          <p:cNvSpPr/>
          <p:nvPr/>
        </p:nvSpPr>
        <p:spPr>
          <a:xfrm>
            <a:off x="670560" y="4803648"/>
            <a:ext cx="4267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447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335" dirty="0"/>
          </a:p>
        </p:txBody>
      </p:sp>
      <p:sp>
        <p:nvSpPr>
          <p:cNvPr id="30" name="Shape 28"/>
          <p:cNvSpPr/>
          <p:nvPr/>
        </p:nvSpPr>
        <p:spPr>
          <a:xfrm>
            <a:off x="1121664" y="4815840"/>
            <a:ext cx="487680" cy="219456"/>
          </a:xfrm>
          <a:prstGeom prst="roundRect">
            <a:avLst>
              <a:gd name="adj" fmla="val 16667"/>
            </a:avLst>
          </a:prstGeom>
          <a:solidFill>
            <a:srgbClr val="FFF3E0"/>
          </a:solidFill>
        </p:spPr>
      </p:sp>
      <p:sp>
        <p:nvSpPr>
          <p:cNvPr id="31" name="Text 29"/>
          <p:cNvSpPr/>
          <p:nvPr/>
        </p:nvSpPr>
        <p:spPr>
          <a:xfrm>
            <a:off x="1121664" y="4815840"/>
            <a:ext cx="487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5" b="1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估</a:t>
            </a:r>
            <a:endParaRPr lang="en-US" sz="935" dirty="0"/>
          </a:p>
        </p:txBody>
      </p:sp>
      <p:sp>
        <p:nvSpPr>
          <p:cNvPr id="32" name="Text 30"/>
          <p:cNvSpPr/>
          <p:nvPr/>
        </p:nvSpPr>
        <p:spPr>
          <a:xfrm>
            <a:off x="1645920" y="4815840"/>
            <a:ext cx="22555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0.8~0.9，有余量取小值</a:t>
            </a:r>
            <a:endParaRPr lang="en-US" sz="1065" dirty="0"/>
          </a:p>
        </p:txBody>
      </p:sp>
      <p:sp>
        <p:nvSpPr>
          <p:cNvPr id="33" name="Shape 31"/>
          <p:cNvSpPr/>
          <p:nvPr/>
        </p:nvSpPr>
        <p:spPr>
          <a:xfrm>
            <a:off x="853440" y="5181600"/>
            <a:ext cx="2926080" cy="18288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4" name="Text 32"/>
          <p:cNvSpPr/>
          <p:nvPr/>
        </p:nvSpPr>
        <p:spPr>
          <a:xfrm>
            <a:off x="670560" y="5218176"/>
            <a:ext cx="329184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4472C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📝 计算示例：</a:t>
            </a:r>
            <a:endParaRPr lang="en-US" sz="1335" dirty="0"/>
          </a:p>
        </p:txBody>
      </p:sp>
      <p:sp>
        <p:nvSpPr>
          <p:cNvPr id="35" name="Text 33"/>
          <p:cNvSpPr/>
          <p:nvPr/>
        </p:nvSpPr>
        <p:spPr>
          <a:xfrm>
            <a:off x="670560" y="5486400"/>
            <a:ext cx="3291840" cy="1072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666666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参照库：面积600m²，容量150t
新库：年销量600t，周转4次，K=0.9
Q = 600÷4 = 150t（新库最大储量）
</a:t>
            </a: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S = 600 × (150÷150) × 0.9
</a:t>
            </a:r>
            <a:r>
              <a:rPr lang="en-US" sz="1600" b="1" dirty="0">
                <a:solidFill>
                  <a:srgbClr val="4472C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= 540 m²</a:t>
            </a:r>
            <a:endParaRPr lang="en-US" sz="1065" dirty="0"/>
          </a:p>
        </p:txBody>
      </p:sp>
      <p:sp>
        <p:nvSpPr>
          <p:cNvPr id="36" name="Shape 34"/>
          <p:cNvSpPr/>
          <p:nvPr/>
        </p:nvSpPr>
        <p:spPr>
          <a:xfrm>
            <a:off x="4267200" y="1524000"/>
            <a:ext cx="3657600" cy="50596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67200" y="1524000"/>
            <a:ext cx="3657600" cy="97536"/>
          </a:xfrm>
          <a:prstGeom prst="rect">
            <a:avLst/>
          </a:prstGeom>
          <a:solidFill>
            <a:srgbClr val="70AD47"/>
          </a:solidFill>
        </p:spPr>
      </p:sp>
      <p:sp>
        <p:nvSpPr>
          <p:cNvPr id="38" name="Text 36"/>
          <p:cNvSpPr/>
          <p:nvPr/>
        </p:nvSpPr>
        <p:spPr>
          <a:xfrm>
            <a:off x="4450080" y="1645920"/>
            <a:ext cx="329184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0AD4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📏 定额计算法 ⭐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4450080" y="2097024"/>
            <a:ext cx="3291840" cy="512064"/>
          </a:xfrm>
          <a:prstGeom prst="roundRect">
            <a:avLst>
              <a:gd name="adj" fmla="val 11905"/>
            </a:avLst>
          </a:prstGeom>
          <a:solidFill>
            <a:srgbClr val="E8F5E9"/>
          </a:solidFill>
        </p:spPr>
      </p:sp>
      <p:sp>
        <p:nvSpPr>
          <p:cNvPr id="40" name="Text 38"/>
          <p:cNvSpPr/>
          <p:nvPr/>
        </p:nvSpPr>
        <p:spPr>
          <a:xfrm>
            <a:off x="4450080" y="2097024"/>
            <a:ext cx="32918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5" b="1" dirty="0">
                <a:solidFill>
                  <a:srgbClr val="70AD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Q / (N × σ)</a:t>
            </a:r>
            <a:endParaRPr lang="en-US" sz="1735" dirty="0"/>
          </a:p>
        </p:txBody>
      </p:sp>
      <p:sp>
        <p:nvSpPr>
          <p:cNvPr id="41" name="Text 39"/>
          <p:cNvSpPr/>
          <p:nvPr/>
        </p:nvSpPr>
        <p:spPr>
          <a:xfrm>
            <a:off x="4450080" y="2657856"/>
            <a:ext cx="329184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公式含义：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450080" y="2901696"/>
            <a:ext cx="329184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666666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仓库面积 = 最大储量 ÷ (单位定额 × 有效面积系数)</a:t>
            </a:r>
            <a:endParaRPr lang="en-US" sz="1065" dirty="0"/>
          </a:p>
        </p:txBody>
      </p:sp>
      <p:sp>
        <p:nvSpPr>
          <p:cNvPr id="43" name="Shape 41"/>
          <p:cNvSpPr/>
          <p:nvPr/>
        </p:nvSpPr>
        <p:spPr>
          <a:xfrm>
            <a:off x="4632960" y="3316224"/>
            <a:ext cx="2926080" cy="18288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44" name="Text 42"/>
          <p:cNvSpPr/>
          <p:nvPr/>
        </p:nvSpPr>
        <p:spPr>
          <a:xfrm>
            <a:off x="4450080" y="3352800"/>
            <a:ext cx="329184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各参数如何得出：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450080" y="3633216"/>
            <a:ext cx="4267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70AD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335" dirty="0"/>
          </a:p>
        </p:txBody>
      </p:sp>
      <p:sp>
        <p:nvSpPr>
          <p:cNvPr id="46" name="Shape 44"/>
          <p:cNvSpPr/>
          <p:nvPr/>
        </p:nvSpPr>
        <p:spPr>
          <a:xfrm>
            <a:off x="4901184" y="3645408"/>
            <a:ext cx="487680" cy="219456"/>
          </a:xfrm>
          <a:prstGeom prst="roundRect">
            <a:avLst>
              <a:gd name="adj" fmla="val 16667"/>
            </a:avLst>
          </a:prstGeom>
          <a:solidFill>
            <a:srgbClr val="FFF3E0"/>
          </a:solidFill>
        </p:spPr>
      </p:sp>
      <p:sp>
        <p:nvSpPr>
          <p:cNvPr id="47" name="Text 45"/>
          <p:cNvSpPr/>
          <p:nvPr/>
        </p:nvSpPr>
        <p:spPr>
          <a:xfrm>
            <a:off x="4901184" y="3645408"/>
            <a:ext cx="487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5" b="1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求的目标</a:t>
            </a:r>
            <a:endParaRPr lang="en-US" sz="935" dirty="0"/>
          </a:p>
        </p:txBody>
      </p:sp>
      <p:sp>
        <p:nvSpPr>
          <p:cNvPr id="48" name="Text 46"/>
          <p:cNvSpPr/>
          <p:nvPr/>
        </p:nvSpPr>
        <p:spPr>
          <a:xfrm>
            <a:off x="5425440" y="3645408"/>
            <a:ext cx="237744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仓库需要多大面积？</a:t>
            </a:r>
            <a:endParaRPr lang="en-US" sz="1065" dirty="0"/>
          </a:p>
        </p:txBody>
      </p:sp>
      <p:sp>
        <p:nvSpPr>
          <p:cNvPr id="49" name="Text 47"/>
          <p:cNvSpPr/>
          <p:nvPr/>
        </p:nvSpPr>
        <p:spPr>
          <a:xfrm>
            <a:off x="4450080" y="3925824"/>
            <a:ext cx="4267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70AD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335" dirty="0"/>
          </a:p>
        </p:txBody>
      </p:sp>
      <p:sp>
        <p:nvSpPr>
          <p:cNvPr id="50" name="Shape 48"/>
          <p:cNvSpPr/>
          <p:nvPr/>
        </p:nvSpPr>
        <p:spPr>
          <a:xfrm>
            <a:off x="4901184" y="3938016"/>
            <a:ext cx="487680" cy="219456"/>
          </a:xfrm>
          <a:prstGeom prst="roundRect">
            <a:avLst>
              <a:gd name="adj" fmla="val 16667"/>
            </a:avLst>
          </a:prstGeom>
          <a:solidFill>
            <a:srgbClr val="FFF3E0"/>
          </a:solidFill>
        </p:spPr>
      </p:sp>
      <p:sp>
        <p:nvSpPr>
          <p:cNvPr id="51" name="Text 49"/>
          <p:cNvSpPr/>
          <p:nvPr/>
        </p:nvSpPr>
        <p:spPr>
          <a:xfrm>
            <a:off x="4901184" y="3938016"/>
            <a:ext cx="487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5" b="1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算</a:t>
            </a:r>
            <a:endParaRPr lang="en-US" sz="935" dirty="0"/>
          </a:p>
        </p:txBody>
      </p:sp>
      <p:sp>
        <p:nvSpPr>
          <p:cNvPr id="52" name="Text 50"/>
          <p:cNvSpPr/>
          <p:nvPr/>
        </p:nvSpPr>
        <p:spPr>
          <a:xfrm>
            <a:off x="5425440" y="3938016"/>
            <a:ext cx="237744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年销量÷年周转次数=最大储量</a:t>
            </a:r>
            <a:endParaRPr lang="en-US" sz="1065" dirty="0"/>
          </a:p>
        </p:txBody>
      </p:sp>
      <p:sp>
        <p:nvSpPr>
          <p:cNvPr id="53" name="Text 51"/>
          <p:cNvSpPr/>
          <p:nvPr/>
        </p:nvSpPr>
        <p:spPr>
          <a:xfrm>
            <a:off x="4450080" y="4218432"/>
            <a:ext cx="4267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70AD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335" dirty="0"/>
          </a:p>
        </p:txBody>
      </p:sp>
      <p:sp>
        <p:nvSpPr>
          <p:cNvPr id="54" name="Shape 52"/>
          <p:cNvSpPr/>
          <p:nvPr/>
        </p:nvSpPr>
        <p:spPr>
          <a:xfrm>
            <a:off x="4901184" y="4230624"/>
            <a:ext cx="487680" cy="219456"/>
          </a:xfrm>
          <a:prstGeom prst="roundRect">
            <a:avLst>
              <a:gd name="adj" fmla="val 16667"/>
            </a:avLst>
          </a:prstGeom>
          <a:solidFill>
            <a:srgbClr val="FFF3E0"/>
          </a:solidFill>
        </p:spPr>
      </p:sp>
      <p:sp>
        <p:nvSpPr>
          <p:cNvPr id="55" name="Text 53"/>
          <p:cNvSpPr/>
          <p:nvPr/>
        </p:nvSpPr>
        <p:spPr>
          <a:xfrm>
            <a:off x="4901184" y="4230624"/>
            <a:ext cx="487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5" b="1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查标准</a:t>
            </a:r>
            <a:endParaRPr lang="en-US" sz="935" dirty="0"/>
          </a:p>
        </p:txBody>
      </p:sp>
      <p:sp>
        <p:nvSpPr>
          <p:cNvPr id="56" name="Text 54"/>
          <p:cNvSpPr/>
          <p:nvPr/>
        </p:nvSpPr>
        <p:spPr>
          <a:xfrm>
            <a:off x="5425440" y="4230624"/>
            <a:ext cx="237744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行业标准：重型货架3~5，中型2~3t/m²</a:t>
            </a:r>
            <a:endParaRPr lang="en-US" sz="1065" dirty="0"/>
          </a:p>
        </p:txBody>
      </p:sp>
      <p:sp>
        <p:nvSpPr>
          <p:cNvPr id="57" name="Text 55"/>
          <p:cNvSpPr/>
          <p:nvPr/>
        </p:nvSpPr>
        <p:spPr>
          <a:xfrm>
            <a:off x="4450080" y="4511040"/>
            <a:ext cx="4267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70AD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</a:t>
            </a:r>
            <a:endParaRPr lang="en-US" sz="1335" dirty="0"/>
          </a:p>
        </p:txBody>
      </p:sp>
      <p:sp>
        <p:nvSpPr>
          <p:cNvPr id="58" name="Shape 56"/>
          <p:cNvSpPr/>
          <p:nvPr/>
        </p:nvSpPr>
        <p:spPr>
          <a:xfrm>
            <a:off x="4901184" y="4523232"/>
            <a:ext cx="487680" cy="219456"/>
          </a:xfrm>
          <a:prstGeom prst="roundRect">
            <a:avLst>
              <a:gd name="adj" fmla="val 16667"/>
            </a:avLst>
          </a:prstGeom>
          <a:solidFill>
            <a:srgbClr val="FFF3E0"/>
          </a:solidFill>
        </p:spPr>
      </p:sp>
      <p:sp>
        <p:nvSpPr>
          <p:cNvPr id="59" name="Text 57"/>
          <p:cNvSpPr/>
          <p:nvPr/>
        </p:nvSpPr>
        <p:spPr>
          <a:xfrm>
            <a:off x="4901184" y="4523232"/>
            <a:ext cx="487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5" b="1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经验值</a:t>
            </a:r>
            <a:endParaRPr lang="en-US" sz="935" dirty="0"/>
          </a:p>
        </p:txBody>
      </p:sp>
      <p:sp>
        <p:nvSpPr>
          <p:cNvPr id="60" name="Text 58"/>
          <p:cNvSpPr/>
          <p:nvPr/>
        </p:nvSpPr>
        <p:spPr>
          <a:xfrm>
            <a:off x="5425440" y="4523232"/>
            <a:ext cx="237744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一般取0.5（0.4~0.6）</a:t>
            </a:r>
            <a:endParaRPr lang="en-US" sz="1065" dirty="0"/>
          </a:p>
        </p:txBody>
      </p:sp>
      <p:sp>
        <p:nvSpPr>
          <p:cNvPr id="61" name="Shape 59"/>
          <p:cNvSpPr/>
          <p:nvPr/>
        </p:nvSpPr>
        <p:spPr>
          <a:xfrm>
            <a:off x="4632960" y="4852416"/>
            <a:ext cx="2926080" cy="18288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62" name="Text 60"/>
          <p:cNvSpPr/>
          <p:nvPr/>
        </p:nvSpPr>
        <p:spPr>
          <a:xfrm>
            <a:off x="4450080" y="4888992"/>
            <a:ext cx="329184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70AD4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📝 计算示例：</a:t>
            </a:r>
            <a:endParaRPr lang="en-US" sz="1335" dirty="0"/>
          </a:p>
        </p:txBody>
      </p:sp>
      <p:sp>
        <p:nvSpPr>
          <p:cNvPr id="63" name="Text 61"/>
          <p:cNvSpPr/>
          <p:nvPr/>
        </p:nvSpPr>
        <p:spPr>
          <a:xfrm>
            <a:off x="4450080" y="5157216"/>
            <a:ext cx="3291840" cy="853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666666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年销量3600t，年周转12次，N=3t/m²
Q = 3600÷12 = 300t（最大储量）
</a:t>
            </a: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S = 300 ÷ (3×0.5)
</a:t>
            </a:r>
            <a:r>
              <a:rPr lang="en-US" sz="1600" b="1" dirty="0">
                <a:solidFill>
                  <a:srgbClr val="70AD4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= 200 m²</a:t>
            </a:r>
            <a:endParaRPr lang="en-US" sz="1065" dirty="0"/>
          </a:p>
        </p:txBody>
      </p:sp>
      <p:sp>
        <p:nvSpPr>
          <p:cNvPr id="64" name="Shape 62"/>
          <p:cNvSpPr/>
          <p:nvPr/>
        </p:nvSpPr>
        <p:spPr>
          <a:xfrm>
            <a:off x="8046720" y="1524000"/>
            <a:ext cx="3657600" cy="50596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046720" y="1524000"/>
            <a:ext cx="3657600" cy="97536"/>
          </a:xfrm>
          <a:prstGeom prst="rect">
            <a:avLst/>
          </a:prstGeom>
          <a:solidFill>
            <a:srgbClr val="9F4F96"/>
          </a:solidFill>
        </p:spPr>
      </p:sp>
      <p:sp>
        <p:nvSpPr>
          <p:cNvPr id="66" name="Text 64"/>
          <p:cNvSpPr/>
          <p:nvPr/>
        </p:nvSpPr>
        <p:spPr>
          <a:xfrm>
            <a:off x="8229600" y="1645920"/>
            <a:ext cx="329184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F4F96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📦 直接计算法</a:t>
            </a:r>
            <a:endParaRPr lang="en-US" sz="2000" dirty="0"/>
          </a:p>
        </p:txBody>
      </p:sp>
      <p:sp>
        <p:nvSpPr>
          <p:cNvPr id="67" name="Shape 65"/>
          <p:cNvSpPr/>
          <p:nvPr/>
        </p:nvSpPr>
        <p:spPr>
          <a:xfrm>
            <a:off x="8229600" y="2097024"/>
            <a:ext cx="3291840" cy="512064"/>
          </a:xfrm>
          <a:prstGeom prst="roundRect">
            <a:avLst>
              <a:gd name="adj" fmla="val 11905"/>
            </a:avLst>
          </a:prstGeom>
          <a:solidFill>
            <a:srgbClr val="F3E5F5"/>
          </a:solidFill>
        </p:spPr>
      </p:sp>
      <p:sp>
        <p:nvSpPr>
          <p:cNvPr id="68" name="Text 66"/>
          <p:cNvSpPr/>
          <p:nvPr/>
        </p:nvSpPr>
        <p:spPr>
          <a:xfrm>
            <a:off x="8229600" y="2097024"/>
            <a:ext cx="32918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5" b="1" dirty="0">
                <a:solidFill>
                  <a:srgbClr val="9F4F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Q / (h × k × γ)</a:t>
            </a:r>
            <a:endParaRPr lang="en-US" sz="1735" dirty="0"/>
          </a:p>
        </p:txBody>
      </p:sp>
      <p:sp>
        <p:nvSpPr>
          <p:cNvPr id="69" name="Text 67"/>
          <p:cNvSpPr/>
          <p:nvPr/>
        </p:nvSpPr>
        <p:spPr>
          <a:xfrm>
            <a:off x="8229600" y="2657856"/>
            <a:ext cx="329184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公式含义：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8229600" y="2901696"/>
            <a:ext cx="329184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666666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料垛面积 = 货重 ÷ (堆高 × 空隙系数 × 容重)</a:t>
            </a:r>
            <a:endParaRPr lang="en-US" sz="1065" dirty="0"/>
          </a:p>
        </p:txBody>
      </p:sp>
      <p:sp>
        <p:nvSpPr>
          <p:cNvPr id="71" name="Shape 69"/>
          <p:cNvSpPr/>
          <p:nvPr/>
        </p:nvSpPr>
        <p:spPr>
          <a:xfrm>
            <a:off x="8412480" y="3316224"/>
            <a:ext cx="2926080" cy="18288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72" name="Text 70"/>
          <p:cNvSpPr/>
          <p:nvPr/>
        </p:nvSpPr>
        <p:spPr>
          <a:xfrm>
            <a:off x="8229600" y="3352800"/>
            <a:ext cx="329184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4F96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各参数如何得出：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8229600" y="3633216"/>
            <a:ext cx="4267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9F4F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335" dirty="0"/>
          </a:p>
        </p:txBody>
      </p:sp>
      <p:sp>
        <p:nvSpPr>
          <p:cNvPr id="74" name="Shape 72"/>
          <p:cNvSpPr/>
          <p:nvPr/>
        </p:nvSpPr>
        <p:spPr>
          <a:xfrm>
            <a:off x="8680704" y="3645408"/>
            <a:ext cx="487680" cy="219456"/>
          </a:xfrm>
          <a:prstGeom prst="roundRect">
            <a:avLst>
              <a:gd name="adj" fmla="val 16667"/>
            </a:avLst>
          </a:prstGeom>
          <a:solidFill>
            <a:srgbClr val="FFF3E0"/>
          </a:solidFill>
        </p:spPr>
      </p:sp>
      <p:sp>
        <p:nvSpPr>
          <p:cNvPr id="75" name="Text 73"/>
          <p:cNvSpPr/>
          <p:nvPr/>
        </p:nvSpPr>
        <p:spPr>
          <a:xfrm>
            <a:off x="8680704" y="3645408"/>
            <a:ext cx="487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5" b="1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求的目标</a:t>
            </a:r>
            <a:endParaRPr lang="en-US" sz="935" dirty="0"/>
          </a:p>
        </p:txBody>
      </p:sp>
      <p:sp>
        <p:nvSpPr>
          <p:cNvPr id="76" name="Text 74"/>
          <p:cNvSpPr/>
          <p:nvPr/>
        </p:nvSpPr>
        <p:spPr>
          <a:xfrm>
            <a:off x="9204960" y="3645408"/>
            <a:ext cx="22555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料垛需要多大地面面积？</a:t>
            </a:r>
            <a:endParaRPr lang="en-US" sz="1065" dirty="0"/>
          </a:p>
        </p:txBody>
      </p:sp>
      <p:sp>
        <p:nvSpPr>
          <p:cNvPr id="77" name="Text 75"/>
          <p:cNvSpPr/>
          <p:nvPr/>
        </p:nvSpPr>
        <p:spPr>
          <a:xfrm>
            <a:off x="8229600" y="3925824"/>
            <a:ext cx="4267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9F4F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335" dirty="0"/>
          </a:p>
        </p:txBody>
      </p:sp>
      <p:sp>
        <p:nvSpPr>
          <p:cNvPr id="78" name="Shape 76"/>
          <p:cNvSpPr/>
          <p:nvPr/>
        </p:nvSpPr>
        <p:spPr>
          <a:xfrm>
            <a:off x="8680704" y="3938016"/>
            <a:ext cx="487680" cy="219456"/>
          </a:xfrm>
          <a:prstGeom prst="roundRect">
            <a:avLst>
              <a:gd name="adj" fmla="val 16667"/>
            </a:avLst>
          </a:prstGeom>
          <a:solidFill>
            <a:srgbClr val="FFF3E0"/>
          </a:solidFill>
        </p:spPr>
      </p:sp>
      <p:sp>
        <p:nvSpPr>
          <p:cNvPr id="79" name="Text 77"/>
          <p:cNvSpPr/>
          <p:nvPr/>
        </p:nvSpPr>
        <p:spPr>
          <a:xfrm>
            <a:off x="8680704" y="3938016"/>
            <a:ext cx="487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5" b="1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算</a:t>
            </a:r>
            <a:endParaRPr lang="en-US" sz="935" dirty="0"/>
          </a:p>
        </p:txBody>
      </p:sp>
      <p:sp>
        <p:nvSpPr>
          <p:cNvPr id="80" name="Text 78"/>
          <p:cNvSpPr/>
          <p:nvPr/>
        </p:nvSpPr>
        <p:spPr>
          <a:xfrm>
            <a:off x="9204960" y="3938016"/>
            <a:ext cx="22555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最大储量=年销量÷年周转次数</a:t>
            </a:r>
            <a:endParaRPr lang="en-US" sz="1065" dirty="0"/>
          </a:p>
        </p:txBody>
      </p:sp>
      <p:sp>
        <p:nvSpPr>
          <p:cNvPr id="81" name="Text 79"/>
          <p:cNvSpPr/>
          <p:nvPr/>
        </p:nvSpPr>
        <p:spPr>
          <a:xfrm>
            <a:off x="8229600" y="4218432"/>
            <a:ext cx="4267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9F4F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335" dirty="0"/>
          </a:p>
        </p:txBody>
      </p:sp>
      <p:sp>
        <p:nvSpPr>
          <p:cNvPr id="82" name="Shape 80"/>
          <p:cNvSpPr/>
          <p:nvPr/>
        </p:nvSpPr>
        <p:spPr>
          <a:xfrm>
            <a:off x="8680704" y="4230624"/>
            <a:ext cx="487680" cy="219456"/>
          </a:xfrm>
          <a:prstGeom prst="roundRect">
            <a:avLst>
              <a:gd name="adj" fmla="val 16667"/>
            </a:avLst>
          </a:prstGeom>
          <a:solidFill>
            <a:srgbClr val="FFF3E0"/>
          </a:solidFill>
        </p:spPr>
      </p:sp>
      <p:sp>
        <p:nvSpPr>
          <p:cNvPr id="83" name="Text 81"/>
          <p:cNvSpPr/>
          <p:nvPr/>
        </p:nvSpPr>
        <p:spPr>
          <a:xfrm>
            <a:off x="8680704" y="4230624"/>
            <a:ext cx="487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5" b="1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量</a:t>
            </a:r>
            <a:endParaRPr lang="en-US" sz="935" dirty="0"/>
          </a:p>
        </p:txBody>
      </p:sp>
      <p:sp>
        <p:nvSpPr>
          <p:cNvPr id="84" name="Text 82"/>
          <p:cNvSpPr/>
          <p:nvPr/>
        </p:nvSpPr>
        <p:spPr>
          <a:xfrm>
            <a:off x="9204960" y="4230624"/>
            <a:ext cx="22555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实际测量或设计堆垛高度</a:t>
            </a:r>
            <a:endParaRPr lang="en-US" sz="1065" dirty="0"/>
          </a:p>
        </p:txBody>
      </p:sp>
      <p:sp>
        <p:nvSpPr>
          <p:cNvPr id="85" name="Text 83"/>
          <p:cNvSpPr/>
          <p:nvPr/>
        </p:nvSpPr>
        <p:spPr>
          <a:xfrm>
            <a:off x="8229600" y="4511040"/>
            <a:ext cx="4267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9F4F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335" dirty="0"/>
          </a:p>
        </p:txBody>
      </p:sp>
      <p:sp>
        <p:nvSpPr>
          <p:cNvPr id="86" name="Shape 84"/>
          <p:cNvSpPr/>
          <p:nvPr/>
        </p:nvSpPr>
        <p:spPr>
          <a:xfrm>
            <a:off x="8680704" y="4523232"/>
            <a:ext cx="487680" cy="219456"/>
          </a:xfrm>
          <a:prstGeom prst="roundRect">
            <a:avLst>
              <a:gd name="adj" fmla="val 16667"/>
            </a:avLst>
          </a:prstGeom>
          <a:solidFill>
            <a:srgbClr val="FFF3E0"/>
          </a:solidFill>
        </p:spPr>
      </p:sp>
      <p:sp>
        <p:nvSpPr>
          <p:cNvPr id="87" name="Text 85"/>
          <p:cNvSpPr/>
          <p:nvPr/>
        </p:nvSpPr>
        <p:spPr>
          <a:xfrm>
            <a:off x="8680704" y="4523232"/>
            <a:ext cx="487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5" b="1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经验值</a:t>
            </a:r>
            <a:endParaRPr lang="en-US" sz="935" dirty="0"/>
          </a:p>
        </p:txBody>
      </p:sp>
      <p:sp>
        <p:nvSpPr>
          <p:cNvPr id="88" name="Text 86"/>
          <p:cNvSpPr/>
          <p:nvPr/>
        </p:nvSpPr>
        <p:spPr>
          <a:xfrm>
            <a:off x="9204960" y="4523232"/>
            <a:ext cx="22555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一般取0.5~0.7（货物松散程度）</a:t>
            </a:r>
            <a:endParaRPr lang="en-US" sz="1065" dirty="0"/>
          </a:p>
        </p:txBody>
      </p:sp>
      <p:sp>
        <p:nvSpPr>
          <p:cNvPr id="89" name="Text 87"/>
          <p:cNvSpPr/>
          <p:nvPr/>
        </p:nvSpPr>
        <p:spPr>
          <a:xfrm>
            <a:off x="8229600" y="4803648"/>
            <a:ext cx="4267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9F4F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</a:t>
            </a:r>
            <a:endParaRPr lang="en-US" sz="1335" dirty="0"/>
          </a:p>
        </p:txBody>
      </p:sp>
      <p:sp>
        <p:nvSpPr>
          <p:cNvPr id="90" name="Shape 88"/>
          <p:cNvSpPr/>
          <p:nvPr/>
        </p:nvSpPr>
        <p:spPr>
          <a:xfrm>
            <a:off x="8680704" y="4815840"/>
            <a:ext cx="487680" cy="219456"/>
          </a:xfrm>
          <a:prstGeom prst="roundRect">
            <a:avLst>
              <a:gd name="adj" fmla="val 16667"/>
            </a:avLst>
          </a:prstGeom>
          <a:solidFill>
            <a:srgbClr val="FFF3E0"/>
          </a:solidFill>
        </p:spPr>
      </p:sp>
      <p:sp>
        <p:nvSpPr>
          <p:cNvPr id="91" name="Text 89"/>
          <p:cNvSpPr/>
          <p:nvPr/>
        </p:nvSpPr>
        <p:spPr>
          <a:xfrm>
            <a:off x="8680704" y="4815840"/>
            <a:ext cx="487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5" b="1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查表</a:t>
            </a:r>
            <a:endParaRPr lang="en-US" sz="935" dirty="0"/>
          </a:p>
        </p:txBody>
      </p:sp>
      <p:sp>
        <p:nvSpPr>
          <p:cNvPr id="92" name="Text 90"/>
          <p:cNvSpPr/>
          <p:nvPr/>
        </p:nvSpPr>
        <p:spPr>
          <a:xfrm>
            <a:off x="9204960" y="4815840"/>
            <a:ext cx="22555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物料密度：钢材7.8，水泥1.3t/m³</a:t>
            </a:r>
            <a:endParaRPr lang="en-US" sz="1065" dirty="0"/>
          </a:p>
        </p:txBody>
      </p:sp>
      <p:sp>
        <p:nvSpPr>
          <p:cNvPr id="93" name="Shape 91"/>
          <p:cNvSpPr/>
          <p:nvPr/>
        </p:nvSpPr>
        <p:spPr>
          <a:xfrm>
            <a:off x="8412480" y="5181600"/>
            <a:ext cx="2926080" cy="18288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94" name="Text 92"/>
          <p:cNvSpPr/>
          <p:nvPr/>
        </p:nvSpPr>
        <p:spPr>
          <a:xfrm>
            <a:off x="8229600" y="5218176"/>
            <a:ext cx="329184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9F4F96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📝 计算示例：</a:t>
            </a:r>
            <a:endParaRPr lang="en-US" sz="1335" dirty="0"/>
          </a:p>
        </p:txBody>
      </p:sp>
      <p:sp>
        <p:nvSpPr>
          <p:cNvPr id="95" name="Text 93"/>
          <p:cNvSpPr/>
          <p:nvPr/>
        </p:nvSpPr>
        <p:spPr>
          <a:xfrm>
            <a:off x="8229600" y="5486400"/>
            <a:ext cx="329184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666666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钢材最大储量500t，高2m，k=0.6，γ=7.8
</a:t>
            </a: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S = 500 ÷ (2×0.6×7.8)
</a:t>
            </a:r>
            <a:r>
              <a:rPr lang="en-US" sz="1600" b="1" dirty="0">
                <a:solidFill>
                  <a:srgbClr val="9F4F96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= 53.4 m²</a:t>
            </a:r>
            <a:endParaRPr lang="en-US" sz="1065" dirty="0"/>
          </a:p>
        </p:txBody>
      </p:sp>
      <p:sp>
        <p:nvSpPr>
          <p:cNvPr id="96" name="Text 94"/>
          <p:cNvSpPr/>
          <p:nvPr/>
        </p:nvSpPr>
        <p:spPr>
          <a:xfrm>
            <a:off x="487680" y="6644640"/>
            <a:ext cx="11216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💡 核心公式：最大储量Q = 年销量 ÷ 年周转次数     例如：年销3600t ÷ 12次 = 最大储量300t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3" name="Text 1"/>
          <p:cNvSpPr/>
          <p:nvPr/>
        </p:nvSpPr>
        <p:spPr>
          <a:xfrm>
            <a:off x="609600" y="365760"/>
            <a:ext cx="109728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65" b="1" dirty="0">
                <a:solidFill>
                  <a:srgbClr val="FFFFFF"/>
                </a:solidFill>
              </a:rPr>
              <a:t>📐 特殊形状仓库库容计算方法</a:t>
            </a:r>
            <a:endParaRPr lang="en-US" sz="3465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1460480" cy="1584960"/>
          </a:xfrm>
          <a:prstGeom prst="roundRect">
            <a:avLst>
              <a:gd name="adj" fmla="val 7692"/>
            </a:avLst>
          </a:prstGeom>
          <a:solidFill>
            <a:srgbClr val="E3F2FD"/>
          </a:solidFill>
          <a:ln w="254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1584960"/>
            <a:ext cx="109728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65" b="1" dirty="0">
                <a:solidFill>
                  <a:srgbClr val="1E88E5"/>
                </a:solidFill>
              </a:rPr>
              <a:t>📌 基础计算公式</a:t>
            </a:r>
            <a:endParaRPr lang="en-US" sz="1865" dirty="0"/>
          </a:p>
        </p:txBody>
      </p:sp>
      <p:sp>
        <p:nvSpPr>
          <p:cNvPr id="6" name="Text 4"/>
          <p:cNvSpPr/>
          <p:nvPr/>
        </p:nvSpPr>
        <p:spPr>
          <a:xfrm>
            <a:off x="609600" y="207264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37474F"/>
                </a:solidFill>
              </a:rPr>
              <a:t>可用品面积 = 仓库总面积 × 可利用率（通常65%-75%）
最大存储量 = 可用品面积 ÷ 单个货位面积 × 层数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3291840"/>
            <a:ext cx="5486400" cy="28041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FB8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352800"/>
            <a:ext cx="54864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35" b="1" dirty="0">
                <a:solidFill>
                  <a:srgbClr val="FB8C00"/>
                </a:solidFill>
              </a:rPr>
              <a:t>🔶 梯形仓库</a:t>
            </a:r>
            <a:endParaRPr lang="en-US" sz="2135" dirty="0"/>
          </a:p>
        </p:txBody>
      </p:sp>
      <p:sp>
        <p:nvSpPr>
          <p:cNvPr id="9" name="Text 7"/>
          <p:cNvSpPr/>
          <p:nvPr/>
        </p:nvSpPr>
        <p:spPr>
          <a:xfrm>
            <a:off x="609600" y="4023360"/>
            <a:ext cx="4998720" cy="1950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7474F"/>
                </a:solidFill>
              </a:rPr>
              <a:t>面积公式：
</a:t>
            </a:r>
            <a:r>
              <a:rPr lang="en-US" sz="1465" dirty="0">
                <a:solidFill>
                  <a:srgbClr val="37474F"/>
                </a:solidFill>
              </a:rPr>
              <a:t>S = (上底 + 下底) × 高 ÷ 2
</a:t>
            </a:r>
            <a:r>
              <a:rPr lang="en-US" sz="1600" b="1" dirty="0">
                <a:solidFill>
                  <a:srgbClr val="37474F"/>
                </a:solidFill>
              </a:rPr>
              <a:t>库容计算：
</a:t>
            </a:r>
            <a:r>
              <a:rPr lang="en-US" sz="1465" dirty="0">
                <a:solidFill>
                  <a:srgbClr val="37474F"/>
                </a:solidFill>
              </a:rPr>
              <a:t>存储量 = S × 可利用率 × 堆高 ÷ 单品体积
</a:t>
            </a:r>
            <a:r>
              <a:rPr lang="en-US" sz="1465" b="1" dirty="0">
                <a:solidFill>
                  <a:srgbClr val="00897B"/>
                </a:solidFill>
              </a:rPr>
              <a:t>💡 注意：</a:t>
            </a:r>
            <a:r>
              <a:rPr lang="en-US" sz="1465" dirty="0">
                <a:solidFill>
                  <a:srgbClr val="00897B"/>
                </a:solidFill>
              </a:rPr>
              <a:t>斜边区域需考虑货架摆放角度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0" y="3291840"/>
            <a:ext cx="5730240" cy="28041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43A0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6000" y="3352800"/>
            <a:ext cx="573024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35" b="1" dirty="0">
                <a:solidFill>
                  <a:srgbClr val="43A047"/>
                </a:solidFill>
              </a:rPr>
              <a:t>🔺 三角形仓库</a:t>
            </a:r>
            <a:endParaRPr lang="en-US" sz="2135" dirty="0"/>
          </a:p>
        </p:txBody>
      </p:sp>
      <p:sp>
        <p:nvSpPr>
          <p:cNvPr id="12" name="Text 10"/>
          <p:cNvSpPr/>
          <p:nvPr/>
        </p:nvSpPr>
        <p:spPr>
          <a:xfrm>
            <a:off x="6339840" y="4023360"/>
            <a:ext cx="5242560" cy="1950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7474F"/>
                </a:solidFill>
              </a:rPr>
              <a:t>面积公式：
</a:t>
            </a:r>
            <a:r>
              <a:rPr lang="en-US" sz="1465" dirty="0">
                <a:solidFill>
                  <a:srgbClr val="37474F"/>
                </a:solidFill>
              </a:rPr>
              <a:t>S = 底边 × 高 ÷ 2
</a:t>
            </a:r>
            <a:r>
              <a:rPr lang="en-US" sz="1600" b="1" dirty="0">
                <a:solidFill>
                  <a:srgbClr val="37474F"/>
                </a:solidFill>
              </a:rPr>
              <a:t>库容计算：
</a:t>
            </a:r>
            <a:r>
              <a:rPr lang="en-US" sz="1465" dirty="0">
                <a:solidFill>
                  <a:srgbClr val="37474F"/>
                </a:solidFill>
              </a:rPr>
              <a:t>存储量 = S × 可利用率 × 堆高 ÷ 单品体积
</a:t>
            </a:r>
            <a:r>
              <a:rPr lang="en-US" sz="1465" b="1" dirty="0">
                <a:solidFill>
                  <a:srgbClr val="00897B"/>
                </a:solidFill>
              </a:rPr>
              <a:t>💡 注意：</a:t>
            </a:r>
            <a:r>
              <a:rPr lang="en-US" sz="1465" dirty="0">
                <a:solidFill>
                  <a:srgbClr val="00897B"/>
                </a:solidFill>
              </a:rPr>
              <a:t>锐角区域利用率较低，建议做通道或办公区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6339840"/>
            <a:ext cx="11460480" cy="1097280"/>
          </a:xfrm>
          <a:prstGeom prst="roundRect">
            <a:avLst>
              <a:gd name="adj" fmla="val 11111"/>
            </a:avLst>
          </a:prstGeom>
          <a:solidFill>
            <a:srgbClr val="7B1FA2"/>
          </a:solidFill>
        </p:spPr>
      </p:sp>
      <p:sp>
        <p:nvSpPr>
          <p:cNvPr id="14" name="Text 12"/>
          <p:cNvSpPr/>
          <p:nvPr/>
        </p:nvSpPr>
        <p:spPr>
          <a:xfrm>
            <a:off x="609600" y="6644640"/>
            <a:ext cx="109728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⚠️ 特殊形状仓库建议：充分利用规则区域，不规则区域规划为通道、办公区或设备区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609600" y="365760"/>
            <a:ext cx="109728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65" b="1" dirty="0">
                <a:solidFill>
                  <a:srgbClr val="FFFFFF"/>
                </a:solidFill>
              </a:rPr>
              <a:t>📐 更多特殊形状库容计算</a:t>
            </a:r>
            <a:endParaRPr lang="en-US" sz="3465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5486400" cy="26822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24000"/>
            <a:ext cx="54864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35" b="1" dirty="0">
                <a:solidFill>
                  <a:srgbClr val="1E88E5"/>
                </a:solidFill>
              </a:rPr>
              <a:t>📐 L形仓库</a:t>
            </a:r>
            <a:endParaRPr lang="en-US" sz="2135" dirty="0"/>
          </a:p>
        </p:txBody>
      </p:sp>
      <p:sp>
        <p:nvSpPr>
          <p:cNvPr id="6" name="Text 4"/>
          <p:cNvSpPr/>
          <p:nvPr/>
        </p:nvSpPr>
        <p:spPr>
          <a:xfrm>
            <a:off x="609600" y="2194560"/>
            <a:ext cx="49987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7474F"/>
                </a:solidFill>
              </a:rPr>
              <a:t>面积公式：
</a:t>
            </a:r>
            <a:r>
              <a:rPr lang="en-US" sz="1465" dirty="0">
                <a:solidFill>
                  <a:srgbClr val="37474F"/>
                </a:solidFill>
              </a:rPr>
              <a:t>S = 大矩形面积 + 小矩形面积
或 S = 总面积 - 缺口面积
</a:t>
            </a:r>
            <a:r>
              <a:rPr lang="en-US" sz="1465" b="1" dirty="0">
                <a:solidFill>
                  <a:srgbClr val="00897B"/>
                </a:solidFill>
              </a:rPr>
              <a:t>💡 建议：</a:t>
            </a:r>
            <a:r>
              <a:rPr lang="en-US" sz="1465" dirty="0">
                <a:solidFill>
                  <a:srgbClr val="00897B"/>
                </a:solidFill>
              </a:rPr>
              <a:t>拐角处设置主通道，提高作业效率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6000" y="1463040"/>
            <a:ext cx="5730240" cy="26822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F451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0" y="1524000"/>
            <a:ext cx="573024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35" b="1" dirty="0">
                <a:solidFill>
                  <a:srgbClr val="F4511E"/>
                </a:solidFill>
              </a:rPr>
              <a:t>⭕ 圆形/扇形仓库</a:t>
            </a:r>
            <a:endParaRPr lang="en-US" sz="2135" dirty="0"/>
          </a:p>
        </p:txBody>
      </p:sp>
      <p:sp>
        <p:nvSpPr>
          <p:cNvPr id="9" name="Text 7"/>
          <p:cNvSpPr/>
          <p:nvPr/>
        </p:nvSpPr>
        <p:spPr>
          <a:xfrm>
            <a:off x="6339840" y="2194560"/>
            <a:ext cx="524256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7474F"/>
                </a:solidFill>
              </a:rPr>
              <a:t>面积公式：
</a:t>
            </a:r>
            <a:r>
              <a:rPr lang="en-US" sz="1465" dirty="0">
                <a:solidFill>
                  <a:srgbClr val="37474F"/>
                </a:solidFill>
              </a:rPr>
              <a:t>圆形：S = π × r²
扇形：S = π × r² × 角度/360
</a:t>
            </a:r>
            <a:r>
              <a:rPr lang="en-US" sz="1465" b="1" dirty="0">
                <a:solidFill>
                  <a:srgbClr val="00897B"/>
                </a:solidFill>
              </a:rPr>
              <a:t>💡 建议：</a:t>
            </a:r>
            <a:r>
              <a:rPr lang="en-US" sz="1465" dirty="0">
                <a:solidFill>
                  <a:srgbClr val="00897B"/>
                </a:solidFill>
              </a:rPr>
              <a:t>中心设通道，货架呈放射状布置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4389120"/>
            <a:ext cx="5486400" cy="26822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7B1F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450080"/>
            <a:ext cx="54864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35" b="1" dirty="0">
                <a:solidFill>
                  <a:srgbClr val="7B1FA2"/>
                </a:solidFill>
              </a:rPr>
              <a:t>⭐ 多边形仓库</a:t>
            </a:r>
            <a:endParaRPr lang="en-US" sz="2135" dirty="0"/>
          </a:p>
        </p:txBody>
      </p:sp>
      <p:sp>
        <p:nvSpPr>
          <p:cNvPr id="12" name="Text 10"/>
          <p:cNvSpPr/>
          <p:nvPr/>
        </p:nvSpPr>
        <p:spPr>
          <a:xfrm>
            <a:off x="609600" y="5120640"/>
            <a:ext cx="49987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7474F"/>
                </a:solidFill>
              </a:rPr>
              <a:t>面积公式：
</a:t>
            </a:r>
            <a:r>
              <a:rPr lang="en-US" sz="1465" dirty="0">
                <a:solidFill>
                  <a:srgbClr val="37474F"/>
                </a:solidFill>
              </a:rPr>
              <a:t>分割成多个三角形计算
S = Σ(各三角形面积)
</a:t>
            </a:r>
            <a:r>
              <a:rPr lang="en-US" sz="1465" b="1" dirty="0">
                <a:solidFill>
                  <a:srgbClr val="00897B"/>
                </a:solidFill>
              </a:rPr>
              <a:t>💡 建议：</a:t>
            </a:r>
            <a:r>
              <a:rPr lang="en-US" sz="1465" dirty="0">
                <a:solidFill>
                  <a:srgbClr val="00897B"/>
                </a:solidFill>
              </a:rPr>
              <a:t>用CAD软件精确测量不规则区域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6000" y="4389120"/>
            <a:ext cx="5730240" cy="26822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00AC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4450080"/>
            <a:ext cx="573024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35" b="1" dirty="0">
                <a:solidFill>
                  <a:srgbClr val="00ACC1"/>
                </a:solidFill>
              </a:rPr>
              <a:t>🔄 不规则形状</a:t>
            </a:r>
            <a:endParaRPr lang="en-US" sz="2135" dirty="0"/>
          </a:p>
        </p:txBody>
      </p:sp>
      <p:sp>
        <p:nvSpPr>
          <p:cNvPr id="15" name="Text 13"/>
          <p:cNvSpPr/>
          <p:nvPr/>
        </p:nvSpPr>
        <p:spPr>
          <a:xfrm>
            <a:off x="6339840" y="5120640"/>
            <a:ext cx="524256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7474F"/>
                </a:solidFill>
              </a:rPr>
              <a:t>计算方法：
</a:t>
            </a:r>
            <a:r>
              <a:rPr lang="en-US" sz="1465" dirty="0">
                <a:solidFill>
                  <a:srgbClr val="37474F"/>
                </a:solidFill>
              </a:rPr>
              <a:t>1. 网格法：划分小格估算
2. CAD测量：精确计算面积
3. 近似法：按相似规则图形
</a:t>
            </a:r>
            <a:r>
              <a:rPr lang="en-US" sz="1465" b="1" dirty="0">
                <a:solidFill>
                  <a:srgbClr val="00897B"/>
                </a:solidFill>
              </a:rPr>
              <a:t>💡 建议：</a:t>
            </a:r>
            <a:r>
              <a:rPr lang="en-US" sz="1465" dirty="0">
                <a:solidFill>
                  <a:srgbClr val="00897B"/>
                </a:solidFill>
              </a:rPr>
              <a:t>不规则区域做通道或功能区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609600" y="365760"/>
            <a:ext cx="109728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65" b="1" dirty="0">
                <a:solidFill>
                  <a:srgbClr val="FFFFFF"/>
                </a:solidFill>
              </a:rPr>
              <a:t>📊 各种形状仓库</a:t>
            </a:r>
            <a:r>
              <a:rPr lang="zh-CN" altLang="en-US" sz="3465" b="1" dirty="0">
                <a:solidFill>
                  <a:srgbClr val="FFFFFF"/>
                </a:solidFill>
              </a:rPr>
              <a:t>面积</a:t>
            </a:r>
            <a:r>
              <a:rPr lang="en-US" sz="3465" b="1" dirty="0">
                <a:solidFill>
                  <a:srgbClr val="FFFFFF"/>
                </a:solidFill>
              </a:rPr>
              <a:t>计算对比</a:t>
            </a:r>
            <a:endParaRPr lang="en-US" sz="346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365760" y="1463040"/>
          <a:ext cx="11460480" cy="4267200"/>
        </p:xfrm>
        <a:graphic>
          <a:graphicData uri="http://schemas.openxmlformats.org/drawingml/2006/table">
            <a:tbl>
              <a:tblPr/>
              <a:tblGrid>
                <a:gridCol w="1584960"/>
                <a:gridCol w="3048000"/>
                <a:gridCol w="1828800"/>
                <a:gridCol w="2560320"/>
                <a:gridCol w="2438400"/>
              </a:tblGrid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仓库形状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面积公式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可利用率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布局建议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适用场景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矩形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长 × 宽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70%-75%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标准货架布局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大多数仓库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梯形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(上底+下底) × 高 ÷ 2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65%-70%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斜边做通道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沿街/不规则地块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三角形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底 × 高 ÷ 2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60%-65%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锐角区做功能区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角落空间利用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L形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分割成矩形计算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65%-70%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拐角设主通道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多层建筑连接处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圆形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π × r²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60%-70%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放射状布局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筒仓/特殊建筑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不规则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网格法/CAD测量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55%-65%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灵活分区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37474F"/>
                          </a:solidFill>
                        </a:rPr>
                        <a:t>旧厂房改造</a:t>
                      </a:r>
                      <a:endParaRPr lang="en-US" sz="1465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365760" y="5974080"/>
            <a:ext cx="11460480" cy="975360"/>
          </a:xfrm>
          <a:prstGeom prst="roundRect">
            <a:avLst>
              <a:gd name="adj" fmla="val 12500"/>
            </a:avLst>
          </a:prstGeom>
          <a:solidFill>
            <a:srgbClr val="00897B"/>
          </a:solidFill>
        </p:spPr>
      </p:sp>
      <p:sp>
        <p:nvSpPr>
          <p:cNvPr id="6" name="Text 3"/>
          <p:cNvSpPr/>
          <p:nvPr/>
        </p:nvSpPr>
        <p:spPr>
          <a:xfrm>
            <a:off x="609600" y="6156960"/>
            <a:ext cx="109728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💡 核心原则：无论何种形状，充分利用规则区域存储，不规则区域规划为辅助功能区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609600" y="2438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拣货方式详解</a:t>
            </a:r>
            <a:endParaRPr lang="en-US" sz="3465" dirty="0"/>
          </a:p>
        </p:txBody>
      </p:sp>
      <p:sp>
        <p:nvSpPr>
          <p:cNvPr id="4" name="Shape 2"/>
          <p:cNvSpPr/>
          <p:nvPr/>
        </p:nvSpPr>
        <p:spPr>
          <a:xfrm>
            <a:off x="426720" y="1341120"/>
            <a:ext cx="2804160" cy="524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02080"/>
            <a:ext cx="256032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76D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🍒 摘果式拣货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89760"/>
            <a:ext cx="256032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按订单逐一拣取每个SKU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560320" cy="426720"/>
          </a:xfrm>
          <a:prstGeom prst="rect">
            <a:avLst/>
          </a:prstGeom>
          <a:solidFill>
            <a:srgbClr val="E3F2FD"/>
          </a:solidFill>
        </p:spPr>
      </p:sp>
      <p:sp>
        <p:nvSpPr>
          <p:cNvPr id="8" name="Text 6"/>
          <p:cNvSpPr/>
          <p:nvPr/>
        </p:nvSpPr>
        <p:spPr>
          <a:xfrm>
            <a:off x="609600" y="2438400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订单1(A,C)→库位A→库位C→下一个订单</a:t>
            </a:r>
            <a:endParaRPr lang="en-US" sz="1065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✓ 优点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2308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 • 准确率高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356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 • 操作简单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 • 适合多SKU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26720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✗ 缺点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57200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 • 效率较低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87680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 • 行走距离远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2560320" cy="2438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7" name="Text 15"/>
          <p:cNvSpPr/>
          <p:nvPr/>
        </p:nvSpPr>
        <p:spPr>
          <a:xfrm>
            <a:off x="548640" y="5425440"/>
            <a:ext cx="2560320" cy="975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适用：订单少/SKU多/高价值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52800" y="1341120"/>
            <a:ext cx="2804160" cy="524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0" y="1402080"/>
            <a:ext cx="256032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76D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🌱 播种式拣货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74720" y="1889760"/>
            <a:ext cx="256032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批量拣选后集中分拣到各订单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2377440"/>
            <a:ext cx="2560320" cy="426720"/>
          </a:xfrm>
          <a:prstGeom prst="rect">
            <a:avLst/>
          </a:prstGeom>
          <a:solidFill>
            <a:srgbClr val="E3F2FD"/>
          </a:solidFill>
        </p:spPr>
      </p:sp>
      <p:sp>
        <p:nvSpPr>
          <p:cNvPr id="22" name="Text 20"/>
          <p:cNvSpPr/>
          <p:nvPr/>
        </p:nvSpPr>
        <p:spPr>
          <a:xfrm>
            <a:off x="3535680" y="2438400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批量取出A品100件→按订单分播到各订单</a:t>
            </a:r>
            <a:endParaRPr lang="en-US" sz="1065" dirty="0"/>
          </a:p>
        </p:txBody>
      </p:sp>
      <p:sp>
        <p:nvSpPr>
          <p:cNvPr id="23" name="Text 21"/>
          <p:cNvSpPr/>
          <p:nvPr/>
        </p:nvSpPr>
        <p:spPr>
          <a:xfrm>
            <a:off x="3474720" y="29260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✓ 优点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32308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 • 效率高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35356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 • 减少行走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0" y="38404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 • 适合少SKU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74720" y="426720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✗ 缺点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0" y="457200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 • 需二次分拣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74720" y="487680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 • 需批量归类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474720" y="5303520"/>
            <a:ext cx="2560320" cy="2438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1" name="Text 29"/>
          <p:cNvSpPr/>
          <p:nvPr/>
        </p:nvSpPr>
        <p:spPr>
          <a:xfrm>
            <a:off x="3474720" y="5425440"/>
            <a:ext cx="2560320" cy="975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适用：订单多/单品多/标准化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78880" y="1341120"/>
            <a:ext cx="2804160" cy="524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0" y="1402080"/>
            <a:ext cx="256032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76D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⚡ 边拣边分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00800" y="1889760"/>
            <a:ext cx="256032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边走边将货物分到各订单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0" y="2377440"/>
            <a:ext cx="2560320" cy="426720"/>
          </a:xfrm>
          <a:prstGeom prst="rect">
            <a:avLst/>
          </a:prstGeom>
          <a:solidFill>
            <a:srgbClr val="E3F2FD"/>
          </a:solidFill>
        </p:spPr>
      </p:sp>
      <p:sp>
        <p:nvSpPr>
          <p:cNvPr id="36" name="Text 34"/>
          <p:cNvSpPr/>
          <p:nvPr/>
        </p:nvSpPr>
        <p:spPr>
          <a:xfrm>
            <a:off x="6461760" y="2438400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按路径走→经过库位时直接分配到对应订单箱</a:t>
            </a:r>
            <a:endParaRPr lang="en-US" sz="1065" dirty="0"/>
          </a:p>
        </p:txBody>
      </p:sp>
      <p:sp>
        <p:nvSpPr>
          <p:cNvPr id="37" name="Text 35"/>
          <p:cNvSpPr/>
          <p:nvPr/>
        </p:nvSpPr>
        <p:spPr>
          <a:xfrm>
            <a:off x="6400800" y="29260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✓ 优点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0" y="32308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 • 一次完成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0" y="35356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 • 效率较高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0" y="38404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 • 适合中等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0" y="426720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✗ 缺点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0" y="457200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 • 操作复杂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0800" y="487680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 • 需规划设计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00800" y="5303520"/>
            <a:ext cx="2560320" cy="2438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45" name="Text 43"/>
          <p:cNvSpPr/>
          <p:nvPr/>
        </p:nvSpPr>
        <p:spPr>
          <a:xfrm>
            <a:off x="6400800" y="5425440"/>
            <a:ext cx="2560320" cy="975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适用：中等规模/有一定规划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204960" y="1341120"/>
            <a:ext cx="2804160" cy="524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9326880" y="1402080"/>
            <a:ext cx="256032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76D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🏃 接力拣货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326880" y="1889760"/>
            <a:ext cx="256032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流水线分段接力作业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326880" y="2377440"/>
            <a:ext cx="2560320" cy="426720"/>
          </a:xfrm>
          <a:prstGeom prst="rect">
            <a:avLst/>
          </a:prstGeom>
          <a:solidFill>
            <a:srgbClr val="E3F2FD"/>
          </a:solidFill>
        </p:spPr>
      </p:sp>
      <p:sp>
        <p:nvSpPr>
          <p:cNvPr id="50" name="Text 48"/>
          <p:cNvSpPr/>
          <p:nvPr/>
        </p:nvSpPr>
        <p:spPr>
          <a:xfrm>
            <a:off x="9387840" y="2438400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A区拣货员→传送带→B区复核员→打包</a:t>
            </a:r>
            <a:endParaRPr lang="en-US" sz="1065" dirty="0"/>
          </a:p>
        </p:txBody>
      </p:sp>
      <p:sp>
        <p:nvSpPr>
          <p:cNvPr id="51" name="Text 49"/>
          <p:cNvSpPr/>
          <p:nvPr/>
        </p:nvSpPr>
        <p:spPr>
          <a:xfrm>
            <a:off x="9326880" y="29260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✓ 优点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326880" y="32308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 • 效率极高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326880" y="35356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 • 可扩展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326880" y="38404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 • 标准化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326880" y="426720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✗ 缺点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326880" y="457200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 • 协同要求高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326880" y="487680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 • 投资较大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9326880" y="5303520"/>
            <a:ext cx="2560320" cy="2438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59" name="Text 57"/>
          <p:cNvSpPr/>
          <p:nvPr/>
        </p:nvSpPr>
        <p:spPr>
          <a:xfrm>
            <a:off x="9326880" y="5425440"/>
            <a:ext cx="2560320" cy="975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适用：大型仓库/自动化/电商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609600" y="3048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3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堆码技术与货位规划</a:t>
            </a:r>
            <a:endParaRPr lang="en-US" sz="3735" dirty="0"/>
          </a:p>
        </p:txBody>
      </p:sp>
      <p:sp>
        <p:nvSpPr>
          <p:cNvPr id="4" name="Text 2"/>
          <p:cNvSpPr/>
          <p:nvPr/>
        </p:nvSpPr>
        <p:spPr>
          <a:xfrm>
            <a:off x="609600" y="1463040"/>
            <a:ext cx="548640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5" b="1" dirty="0">
                <a:solidFill>
                  <a:srgbClr val="558B2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堆码方式</a:t>
            </a:r>
            <a:endParaRPr lang="en-US" sz="1865" dirty="0"/>
          </a:p>
        </p:txBody>
      </p:sp>
      <p:sp>
        <p:nvSpPr>
          <p:cNvPr id="5" name="Shape 3"/>
          <p:cNvSpPr/>
          <p:nvPr/>
        </p:nvSpPr>
        <p:spPr>
          <a:xfrm>
            <a:off x="609600" y="2011680"/>
            <a:ext cx="5486400" cy="670560"/>
          </a:xfrm>
          <a:prstGeom prst="roundRect">
            <a:avLst>
              <a:gd name="adj" fmla="val 9091"/>
            </a:avLst>
          </a:prstGeom>
          <a:solidFill>
            <a:srgbClr val="F1F8E9"/>
          </a:solidFill>
        </p:spPr>
      </p:sp>
      <p:sp>
        <p:nvSpPr>
          <p:cNvPr id="6" name="Text 4"/>
          <p:cNvSpPr/>
          <p:nvPr/>
        </p:nvSpPr>
        <p:spPr>
          <a:xfrm>
            <a:off x="731520" y="2109216"/>
            <a:ext cx="146304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8B2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重叠式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2109216"/>
            <a:ext cx="280416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层层重叠，稳定性好但通风差</a:t>
            </a:r>
            <a:endParaRPr lang="en-US" sz="1335" dirty="0"/>
          </a:p>
        </p:txBody>
      </p:sp>
      <p:sp>
        <p:nvSpPr>
          <p:cNvPr id="8" name="Text 6"/>
          <p:cNvSpPr/>
          <p:nvPr/>
        </p:nvSpPr>
        <p:spPr>
          <a:xfrm>
            <a:off x="4998720" y="2109216"/>
            <a:ext cx="109728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5" dirty="0">
                <a:solidFill>
                  <a:srgbClr val="75757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适用: 箱装、桶装</a:t>
            </a:r>
            <a:endParaRPr lang="en-US" sz="1065" dirty="0"/>
          </a:p>
        </p:txBody>
      </p:sp>
      <p:sp>
        <p:nvSpPr>
          <p:cNvPr id="9" name="Shape 7"/>
          <p:cNvSpPr/>
          <p:nvPr/>
        </p:nvSpPr>
        <p:spPr>
          <a:xfrm>
            <a:off x="609600" y="2767584"/>
            <a:ext cx="5486400" cy="670560"/>
          </a:xfrm>
          <a:prstGeom prst="roundRect">
            <a:avLst>
              <a:gd name="adj" fmla="val 9091"/>
            </a:avLst>
          </a:prstGeom>
          <a:solidFill>
            <a:srgbClr val="F1F8E9"/>
          </a:solidFill>
        </p:spPr>
      </p:sp>
      <p:sp>
        <p:nvSpPr>
          <p:cNvPr id="10" name="Text 8"/>
          <p:cNvSpPr/>
          <p:nvPr/>
        </p:nvSpPr>
        <p:spPr>
          <a:xfrm>
            <a:off x="731520" y="2865120"/>
            <a:ext cx="146304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8B2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纵横式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94560" y="2865120"/>
            <a:ext cx="280416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每层纵横交错，稳定性强</a:t>
            </a:r>
            <a:endParaRPr lang="en-US" sz="1335" dirty="0"/>
          </a:p>
        </p:txBody>
      </p:sp>
      <p:sp>
        <p:nvSpPr>
          <p:cNvPr id="12" name="Text 10"/>
          <p:cNvSpPr/>
          <p:nvPr/>
        </p:nvSpPr>
        <p:spPr>
          <a:xfrm>
            <a:off x="4998720" y="2865120"/>
            <a:ext cx="109728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5" dirty="0">
                <a:solidFill>
                  <a:srgbClr val="75757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适用: 袋装、散装</a:t>
            </a:r>
            <a:endParaRPr lang="en-US" sz="1065" dirty="0"/>
          </a:p>
        </p:txBody>
      </p:sp>
      <p:sp>
        <p:nvSpPr>
          <p:cNvPr id="13" name="Shape 11"/>
          <p:cNvSpPr/>
          <p:nvPr/>
        </p:nvSpPr>
        <p:spPr>
          <a:xfrm>
            <a:off x="609600" y="3523488"/>
            <a:ext cx="5486400" cy="670560"/>
          </a:xfrm>
          <a:prstGeom prst="roundRect">
            <a:avLst>
              <a:gd name="adj" fmla="val 9091"/>
            </a:avLst>
          </a:prstGeom>
          <a:solidFill>
            <a:srgbClr val="F1F8E9"/>
          </a:solidFill>
        </p:spPr>
      </p:sp>
      <p:sp>
        <p:nvSpPr>
          <p:cNvPr id="14" name="Text 12"/>
          <p:cNvSpPr/>
          <p:nvPr/>
        </p:nvSpPr>
        <p:spPr>
          <a:xfrm>
            <a:off x="731520" y="3621024"/>
            <a:ext cx="146304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8B2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通风式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94560" y="3621024"/>
            <a:ext cx="280416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保留通风通道，利于防潮</a:t>
            </a:r>
            <a:endParaRPr lang="en-US" sz="1335" dirty="0"/>
          </a:p>
        </p:txBody>
      </p:sp>
      <p:sp>
        <p:nvSpPr>
          <p:cNvPr id="16" name="Text 14"/>
          <p:cNvSpPr/>
          <p:nvPr/>
        </p:nvSpPr>
        <p:spPr>
          <a:xfrm>
            <a:off x="4998720" y="3621024"/>
            <a:ext cx="109728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5" dirty="0">
                <a:solidFill>
                  <a:srgbClr val="75757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适用: 食品、药品</a:t>
            </a:r>
            <a:endParaRPr lang="en-US" sz="1065" dirty="0"/>
          </a:p>
        </p:txBody>
      </p:sp>
      <p:sp>
        <p:nvSpPr>
          <p:cNvPr id="17" name="Shape 15"/>
          <p:cNvSpPr/>
          <p:nvPr/>
        </p:nvSpPr>
        <p:spPr>
          <a:xfrm>
            <a:off x="609600" y="4279392"/>
            <a:ext cx="5486400" cy="670560"/>
          </a:xfrm>
          <a:prstGeom prst="roundRect">
            <a:avLst>
              <a:gd name="adj" fmla="val 9091"/>
            </a:avLst>
          </a:prstGeom>
          <a:solidFill>
            <a:srgbClr val="F1F8E9"/>
          </a:solidFill>
        </p:spPr>
      </p:sp>
      <p:sp>
        <p:nvSpPr>
          <p:cNvPr id="18" name="Text 16"/>
          <p:cNvSpPr/>
          <p:nvPr/>
        </p:nvSpPr>
        <p:spPr>
          <a:xfrm>
            <a:off x="731520" y="4376928"/>
            <a:ext cx="146304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8B2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井字形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94560" y="4376928"/>
            <a:ext cx="280416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交叉堆叠，成井字结构</a:t>
            </a:r>
            <a:endParaRPr lang="en-US" sz="1335" dirty="0"/>
          </a:p>
        </p:txBody>
      </p:sp>
      <p:sp>
        <p:nvSpPr>
          <p:cNvPr id="20" name="Text 18"/>
          <p:cNvSpPr/>
          <p:nvPr/>
        </p:nvSpPr>
        <p:spPr>
          <a:xfrm>
            <a:off x="4998720" y="4376928"/>
            <a:ext cx="109728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5" dirty="0">
                <a:solidFill>
                  <a:srgbClr val="75757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适用: 板材、管材</a:t>
            </a:r>
            <a:endParaRPr lang="en-US" sz="1065" dirty="0"/>
          </a:p>
        </p:txBody>
      </p:sp>
      <p:sp>
        <p:nvSpPr>
          <p:cNvPr id="21" name="Shape 19"/>
          <p:cNvSpPr/>
          <p:nvPr/>
        </p:nvSpPr>
        <p:spPr>
          <a:xfrm>
            <a:off x="609600" y="5035296"/>
            <a:ext cx="5486400" cy="670560"/>
          </a:xfrm>
          <a:prstGeom prst="roundRect">
            <a:avLst>
              <a:gd name="adj" fmla="val 9091"/>
            </a:avLst>
          </a:prstGeom>
          <a:solidFill>
            <a:srgbClr val="F1F8E9"/>
          </a:solidFill>
        </p:spPr>
      </p:sp>
      <p:sp>
        <p:nvSpPr>
          <p:cNvPr id="22" name="Text 20"/>
          <p:cNvSpPr/>
          <p:nvPr/>
        </p:nvSpPr>
        <p:spPr>
          <a:xfrm>
            <a:off x="731520" y="5132832"/>
            <a:ext cx="146304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8B2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五五堆码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194560" y="5132832"/>
            <a:ext cx="280416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五五成组，便于清点</a:t>
            </a:r>
            <a:endParaRPr lang="en-US" sz="1335" dirty="0"/>
          </a:p>
        </p:txBody>
      </p:sp>
      <p:sp>
        <p:nvSpPr>
          <p:cNvPr id="24" name="Text 22"/>
          <p:cNvSpPr/>
          <p:nvPr/>
        </p:nvSpPr>
        <p:spPr>
          <a:xfrm>
            <a:off x="4998720" y="5132832"/>
            <a:ext cx="109728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5" dirty="0">
                <a:solidFill>
                  <a:srgbClr val="75757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适用: 小件商品</a:t>
            </a:r>
            <a:endParaRPr lang="en-US" sz="1065" dirty="0"/>
          </a:p>
        </p:txBody>
      </p:sp>
      <p:sp>
        <p:nvSpPr>
          <p:cNvPr id="25" name="Shape 23"/>
          <p:cNvSpPr/>
          <p:nvPr/>
        </p:nvSpPr>
        <p:spPr>
          <a:xfrm>
            <a:off x="609600" y="5791200"/>
            <a:ext cx="5486400" cy="670560"/>
          </a:xfrm>
          <a:prstGeom prst="roundRect">
            <a:avLst>
              <a:gd name="adj" fmla="val 9091"/>
            </a:avLst>
          </a:prstGeom>
          <a:solidFill>
            <a:srgbClr val="F1F8E9"/>
          </a:solidFill>
        </p:spPr>
      </p:sp>
      <p:sp>
        <p:nvSpPr>
          <p:cNvPr id="26" name="Text 24"/>
          <p:cNvSpPr/>
          <p:nvPr/>
        </p:nvSpPr>
        <p:spPr>
          <a:xfrm>
            <a:off x="731520" y="5888736"/>
            <a:ext cx="146304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8B2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托盘堆码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194560" y="5888736"/>
            <a:ext cx="280416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配合叉车使用，效率高</a:t>
            </a:r>
            <a:endParaRPr lang="en-US" sz="1335" dirty="0"/>
          </a:p>
        </p:txBody>
      </p:sp>
      <p:sp>
        <p:nvSpPr>
          <p:cNvPr id="28" name="Text 26"/>
          <p:cNvSpPr/>
          <p:nvPr/>
        </p:nvSpPr>
        <p:spPr>
          <a:xfrm>
            <a:off x="4998720" y="5888736"/>
            <a:ext cx="109728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5" dirty="0">
                <a:solidFill>
                  <a:srgbClr val="75757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适用: 标准化货物</a:t>
            </a:r>
            <a:endParaRPr lang="en-US" sz="1065" dirty="0"/>
          </a:p>
        </p:txBody>
      </p:sp>
      <p:sp>
        <p:nvSpPr>
          <p:cNvPr id="29" name="Text 27"/>
          <p:cNvSpPr/>
          <p:nvPr/>
        </p:nvSpPr>
        <p:spPr>
          <a:xfrm>
            <a:off x="6339840" y="1463040"/>
            <a:ext cx="548640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5" b="1" dirty="0">
                <a:solidFill>
                  <a:srgbClr val="1565C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货位规划原则</a:t>
            </a:r>
            <a:endParaRPr lang="en-US" sz="1865" dirty="0"/>
          </a:p>
        </p:txBody>
      </p:sp>
      <p:sp>
        <p:nvSpPr>
          <p:cNvPr id="30" name="Shape 28"/>
          <p:cNvSpPr/>
          <p:nvPr/>
        </p:nvSpPr>
        <p:spPr>
          <a:xfrm>
            <a:off x="6339840" y="2011680"/>
            <a:ext cx="5242560" cy="670560"/>
          </a:xfrm>
          <a:prstGeom prst="roundRect">
            <a:avLst>
              <a:gd name="adj" fmla="val 9091"/>
            </a:avLst>
          </a:prstGeom>
          <a:solidFill>
            <a:srgbClr val="E3F2FD"/>
          </a:solidFill>
        </p:spPr>
      </p:sp>
      <p:sp>
        <p:nvSpPr>
          <p:cNvPr id="31" name="Text 29"/>
          <p:cNvSpPr/>
          <p:nvPr/>
        </p:nvSpPr>
        <p:spPr>
          <a:xfrm>
            <a:off x="6461760" y="2072640"/>
            <a:ext cx="60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35" dirty="0">
                <a:solidFill>
                  <a:srgbClr val="000000"/>
                </a:solidFill>
              </a:rPr>
              <a:t>📍</a:t>
            </a:r>
            <a:endParaRPr lang="en-US" sz="2135" dirty="0"/>
          </a:p>
        </p:txBody>
      </p:sp>
      <p:sp>
        <p:nvSpPr>
          <p:cNvPr id="32" name="Text 30"/>
          <p:cNvSpPr/>
          <p:nvPr/>
        </p:nvSpPr>
        <p:spPr>
          <a:xfrm>
            <a:off x="7071360" y="2072640"/>
            <a:ext cx="158496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ABC分类</a:t>
            </a:r>
            <a:endParaRPr lang="en-US" sz="1465" dirty="0"/>
          </a:p>
        </p:txBody>
      </p:sp>
      <p:sp>
        <p:nvSpPr>
          <p:cNvPr id="33" name="Text 31"/>
          <p:cNvSpPr/>
          <p:nvPr/>
        </p:nvSpPr>
        <p:spPr>
          <a:xfrm>
            <a:off x="7071360" y="2353056"/>
            <a:ext cx="426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757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A类高频货物靠近出口，C类低频远离通道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39840" y="2767584"/>
            <a:ext cx="5242560" cy="670560"/>
          </a:xfrm>
          <a:prstGeom prst="roundRect">
            <a:avLst>
              <a:gd name="adj" fmla="val 9091"/>
            </a:avLst>
          </a:prstGeom>
          <a:solidFill>
            <a:srgbClr val="E3F2FD"/>
          </a:solidFill>
        </p:spPr>
      </p:sp>
      <p:sp>
        <p:nvSpPr>
          <p:cNvPr id="35" name="Text 33"/>
          <p:cNvSpPr/>
          <p:nvPr/>
        </p:nvSpPr>
        <p:spPr>
          <a:xfrm>
            <a:off x="6461760" y="2828544"/>
            <a:ext cx="60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35" dirty="0">
                <a:solidFill>
                  <a:srgbClr val="000000"/>
                </a:solidFill>
              </a:rPr>
              <a:t>⚖️</a:t>
            </a:r>
            <a:endParaRPr lang="en-US" sz="2135" dirty="0"/>
          </a:p>
        </p:txBody>
      </p:sp>
      <p:sp>
        <p:nvSpPr>
          <p:cNvPr id="36" name="Text 34"/>
          <p:cNvSpPr/>
          <p:nvPr/>
        </p:nvSpPr>
        <p:spPr>
          <a:xfrm>
            <a:off x="7071360" y="2828544"/>
            <a:ext cx="158496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重量匹配</a:t>
            </a:r>
            <a:endParaRPr lang="en-US" sz="1465" dirty="0"/>
          </a:p>
        </p:txBody>
      </p:sp>
      <p:sp>
        <p:nvSpPr>
          <p:cNvPr id="37" name="Text 35"/>
          <p:cNvSpPr/>
          <p:nvPr/>
        </p:nvSpPr>
        <p:spPr>
          <a:xfrm>
            <a:off x="7071360" y="3108960"/>
            <a:ext cx="426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757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重货放底层，轻货放上层，保护货物安全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39840" y="3523488"/>
            <a:ext cx="5242560" cy="670560"/>
          </a:xfrm>
          <a:prstGeom prst="roundRect">
            <a:avLst>
              <a:gd name="adj" fmla="val 9091"/>
            </a:avLst>
          </a:prstGeom>
          <a:solidFill>
            <a:srgbClr val="E3F2FD"/>
          </a:solidFill>
        </p:spPr>
      </p:sp>
      <p:sp>
        <p:nvSpPr>
          <p:cNvPr id="39" name="Text 37"/>
          <p:cNvSpPr/>
          <p:nvPr/>
        </p:nvSpPr>
        <p:spPr>
          <a:xfrm>
            <a:off x="6461760" y="3584448"/>
            <a:ext cx="60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35" dirty="0">
                <a:solidFill>
                  <a:srgbClr val="000000"/>
                </a:solidFill>
              </a:rPr>
              <a:t>🔥</a:t>
            </a:r>
            <a:endParaRPr lang="en-US" sz="2135" dirty="0"/>
          </a:p>
        </p:txBody>
      </p:sp>
      <p:sp>
        <p:nvSpPr>
          <p:cNvPr id="40" name="Text 38"/>
          <p:cNvSpPr/>
          <p:nvPr/>
        </p:nvSpPr>
        <p:spPr>
          <a:xfrm>
            <a:off x="7071360" y="3584448"/>
            <a:ext cx="158496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温湿度区</a:t>
            </a:r>
            <a:endParaRPr lang="en-US" sz="1465" dirty="0"/>
          </a:p>
        </p:txBody>
      </p:sp>
      <p:sp>
        <p:nvSpPr>
          <p:cNvPr id="41" name="Text 39"/>
          <p:cNvSpPr/>
          <p:nvPr/>
        </p:nvSpPr>
        <p:spPr>
          <a:xfrm>
            <a:off x="7071360" y="3864864"/>
            <a:ext cx="426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757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易潮、易燃、易冻商品分区存放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39840" y="4279392"/>
            <a:ext cx="5242560" cy="670560"/>
          </a:xfrm>
          <a:prstGeom prst="roundRect">
            <a:avLst>
              <a:gd name="adj" fmla="val 9091"/>
            </a:avLst>
          </a:prstGeom>
          <a:solidFill>
            <a:srgbClr val="E3F2FD"/>
          </a:solidFill>
        </p:spPr>
      </p:sp>
      <p:sp>
        <p:nvSpPr>
          <p:cNvPr id="43" name="Text 41"/>
          <p:cNvSpPr/>
          <p:nvPr/>
        </p:nvSpPr>
        <p:spPr>
          <a:xfrm>
            <a:off x="6461760" y="4340352"/>
            <a:ext cx="60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35" dirty="0">
                <a:solidFill>
                  <a:srgbClr val="000000"/>
                </a:solidFill>
              </a:rPr>
              <a:t>📦</a:t>
            </a:r>
            <a:endParaRPr lang="en-US" sz="2135" dirty="0"/>
          </a:p>
        </p:txBody>
      </p:sp>
      <p:sp>
        <p:nvSpPr>
          <p:cNvPr id="44" name="Text 42"/>
          <p:cNvSpPr/>
          <p:nvPr/>
        </p:nvSpPr>
        <p:spPr>
          <a:xfrm>
            <a:off x="7071360" y="4340352"/>
            <a:ext cx="158496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同品相邻</a:t>
            </a:r>
            <a:endParaRPr lang="en-US" sz="1465" dirty="0"/>
          </a:p>
        </p:txBody>
      </p:sp>
      <p:sp>
        <p:nvSpPr>
          <p:cNvPr id="45" name="Text 43"/>
          <p:cNvSpPr/>
          <p:nvPr/>
        </p:nvSpPr>
        <p:spPr>
          <a:xfrm>
            <a:off x="7071360" y="4620768"/>
            <a:ext cx="426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757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同SKU商品集中存放，便于查找和补货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339840" y="5035296"/>
            <a:ext cx="5242560" cy="670560"/>
          </a:xfrm>
          <a:prstGeom prst="roundRect">
            <a:avLst>
              <a:gd name="adj" fmla="val 9091"/>
            </a:avLst>
          </a:prstGeom>
          <a:solidFill>
            <a:srgbClr val="E3F2FD"/>
          </a:solidFill>
        </p:spPr>
      </p:sp>
      <p:sp>
        <p:nvSpPr>
          <p:cNvPr id="47" name="Text 45"/>
          <p:cNvSpPr/>
          <p:nvPr/>
        </p:nvSpPr>
        <p:spPr>
          <a:xfrm>
            <a:off x="6461760" y="5096256"/>
            <a:ext cx="60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35" dirty="0">
                <a:solidFill>
                  <a:srgbClr val="000000"/>
                </a:solidFill>
              </a:rPr>
              <a:t>🚪</a:t>
            </a:r>
            <a:endParaRPr lang="en-US" sz="2135" dirty="0"/>
          </a:p>
        </p:txBody>
      </p:sp>
      <p:sp>
        <p:nvSpPr>
          <p:cNvPr id="48" name="Text 46"/>
          <p:cNvSpPr/>
          <p:nvPr/>
        </p:nvSpPr>
        <p:spPr>
          <a:xfrm>
            <a:off x="7071360" y="5096256"/>
            <a:ext cx="158496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通道规划</a:t>
            </a:r>
            <a:endParaRPr lang="en-US" sz="1465" dirty="0"/>
          </a:p>
        </p:txBody>
      </p:sp>
      <p:sp>
        <p:nvSpPr>
          <p:cNvPr id="49" name="Text 47"/>
          <p:cNvSpPr/>
          <p:nvPr/>
        </p:nvSpPr>
        <p:spPr>
          <a:xfrm>
            <a:off x="7071360" y="5376672"/>
            <a:ext cx="426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757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主通道≥2.5m，副通道≥1.5m，满足叉车转弯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339840" y="5791200"/>
            <a:ext cx="5242560" cy="670560"/>
          </a:xfrm>
          <a:prstGeom prst="roundRect">
            <a:avLst>
              <a:gd name="adj" fmla="val 9091"/>
            </a:avLst>
          </a:prstGeom>
          <a:solidFill>
            <a:srgbClr val="E3F2FD"/>
          </a:solidFill>
        </p:spPr>
      </p:sp>
      <p:sp>
        <p:nvSpPr>
          <p:cNvPr id="51" name="Text 49"/>
          <p:cNvSpPr/>
          <p:nvPr/>
        </p:nvSpPr>
        <p:spPr>
          <a:xfrm>
            <a:off x="6461760" y="5852160"/>
            <a:ext cx="60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35" dirty="0">
                <a:solidFill>
                  <a:srgbClr val="000000"/>
                </a:solidFill>
              </a:rPr>
              <a:t>📊</a:t>
            </a:r>
            <a:endParaRPr lang="en-US" sz="2135" dirty="0"/>
          </a:p>
        </p:txBody>
      </p:sp>
      <p:sp>
        <p:nvSpPr>
          <p:cNvPr id="52" name="Text 50"/>
          <p:cNvSpPr/>
          <p:nvPr/>
        </p:nvSpPr>
        <p:spPr>
          <a:xfrm>
            <a:off x="7071360" y="5852160"/>
            <a:ext cx="158496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可视化</a:t>
            </a:r>
            <a:endParaRPr lang="en-US" sz="1465" dirty="0"/>
          </a:p>
        </p:txBody>
      </p:sp>
      <p:sp>
        <p:nvSpPr>
          <p:cNvPr id="53" name="Text 51"/>
          <p:cNvSpPr/>
          <p:nvPr/>
        </p:nvSpPr>
        <p:spPr>
          <a:xfrm>
            <a:off x="7071360" y="6132576"/>
            <a:ext cx="426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757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地面划线、颜色分区、标识清晰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09600" y="6248400"/>
            <a:ext cx="10972800" cy="487680"/>
          </a:xfrm>
          <a:prstGeom prst="roundRect">
            <a:avLst>
              <a:gd name="adj" fmla="val 10000"/>
            </a:avLst>
          </a:prstGeom>
          <a:solidFill>
            <a:srgbClr val="FFF8E1"/>
          </a:solidFill>
        </p:spPr>
      </p:sp>
      <p:sp>
        <p:nvSpPr>
          <p:cNvPr id="55" name="Text 53"/>
          <p:cNvSpPr/>
          <p:nvPr/>
        </p:nvSpPr>
        <p:spPr>
          <a:xfrm>
            <a:off x="731520" y="6193536"/>
            <a:ext cx="107289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F57C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⚠️ 堆码安全注意事项：严禁超高堆放（一般≤3米）、禁止头重脚轻、留出消防通道、定期检查托盘完好性</a:t>
            </a:r>
            <a:endParaRPr lang="en-US" sz="133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2E5A8B"/>
          </a:solidFill>
        </p:spPr>
      </p:sp>
      <p:sp>
        <p:nvSpPr>
          <p:cNvPr id="3" name="Shape 1"/>
          <p:cNvSpPr/>
          <p:nvPr/>
        </p:nvSpPr>
        <p:spPr>
          <a:xfrm>
            <a:off x="365760" y="304800"/>
            <a:ext cx="11460480" cy="79248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4" name="Text 2"/>
          <p:cNvSpPr/>
          <p:nvPr/>
        </p:nvSpPr>
        <p:spPr>
          <a:xfrm>
            <a:off x="609600" y="390144"/>
            <a:ext cx="10972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📦 常见堆码方式详解</a:t>
            </a:r>
            <a:endParaRPr lang="en-US" sz="3465" dirty="0"/>
          </a:p>
        </p:txBody>
      </p:sp>
      <p:sp>
        <p:nvSpPr>
          <p:cNvPr id="5" name="Text 3"/>
          <p:cNvSpPr/>
          <p:nvPr/>
        </p:nvSpPr>
        <p:spPr>
          <a:xfrm>
            <a:off x="365760" y="1158240"/>
            <a:ext cx="1146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选择合适的堆码方式可以提高仓库利用率、保证货物安全、便于清点盘点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17678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45920"/>
            <a:ext cx="1767840" cy="4267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8" name="Shape 6"/>
          <p:cNvSpPr/>
          <p:nvPr/>
        </p:nvSpPr>
        <p:spPr>
          <a:xfrm>
            <a:off x="365760" y="2023110"/>
            <a:ext cx="1767840" cy="1676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9" name="Text 7"/>
          <p:cNvSpPr/>
          <p:nvPr/>
        </p:nvSpPr>
        <p:spPr>
          <a:xfrm>
            <a:off x="365760" y="1670304"/>
            <a:ext cx="176784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📚 重叠式</a:t>
            </a:r>
            <a:endParaRPr lang="en-US" sz="1465" dirty="0"/>
          </a:p>
        </p:txBody>
      </p:sp>
      <p:sp>
        <p:nvSpPr>
          <p:cNvPr id="10" name="Shape 8"/>
          <p:cNvSpPr/>
          <p:nvPr/>
        </p:nvSpPr>
        <p:spPr>
          <a:xfrm>
            <a:off x="512064" y="2478024"/>
            <a:ext cx="1475232" cy="8534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1" name="Shape 9"/>
          <p:cNvSpPr/>
          <p:nvPr/>
        </p:nvSpPr>
        <p:spPr>
          <a:xfrm>
            <a:off x="576232" y="2231296"/>
            <a:ext cx="416453" cy="416453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1453" y="2231296"/>
            <a:ext cx="416453" cy="416453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6675" y="2231296"/>
            <a:ext cx="416453" cy="416453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232" y="2696517"/>
            <a:ext cx="416453" cy="416453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1453" y="2696517"/>
            <a:ext cx="416453" cy="416453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06675" y="2696517"/>
            <a:ext cx="416453" cy="416453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232" y="3161739"/>
            <a:ext cx="416453" cy="416453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1453" y="3161739"/>
            <a:ext cx="416453" cy="416453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06675" y="3161739"/>
            <a:ext cx="416453" cy="416453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3296" y="3404616"/>
            <a:ext cx="1572768" cy="3413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上下完全对齐重叠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7680" y="3770376"/>
            <a:ext cx="1524000" cy="268224"/>
          </a:xfrm>
          <a:prstGeom prst="rect">
            <a:avLst/>
          </a:prstGeom>
          <a:solidFill>
            <a:srgbClr val="3B82F6">
              <a:alpha val="15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487680" y="3770376"/>
            <a:ext cx="152400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5" dirty="0">
                <a:solidFill>
                  <a:srgbClr val="3B82F6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✓ 操作速度快</a:t>
            </a:r>
            <a:endParaRPr lang="en-US" sz="1065" dirty="0"/>
          </a:p>
        </p:txBody>
      </p:sp>
      <p:sp>
        <p:nvSpPr>
          <p:cNvPr id="23" name="Text 21"/>
          <p:cNvSpPr/>
          <p:nvPr/>
        </p:nvSpPr>
        <p:spPr>
          <a:xfrm>
            <a:off x="463296" y="4087368"/>
            <a:ext cx="1572768" cy="3413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35" dirty="0">
                <a:solidFill>
                  <a:srgbClr val="64748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适用: 硬质整齐包装</a:t>
            </a:r>
            <a:endParaRPr lang="en-US" sz="935" dirty="0"/>
          </a:p>
        </p:txBody>
      </p:sp>
      <p:sp>
        <p:nvSpPr>
          <p:cNvPr id="24" name="Shape 22"/>
          <p:cNvSpPr/>
          <p:nvPr/>
        </p:nvSpPr>
        <p:spPr>
          <a:xfrm>
            <a:off x="2279904" y="1645920"/>
            <a:ext cx="17678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79904" y="1645920"/>
            <a:ext cx="1767840" cy="426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6" name="Shape 24"/>
          <p:cNvSpPr/>
          <p:nvPr/>
        </p:nvSpPr>
        <p:spPr>
          <a:xfrm>
            <a:off x="2279904" y="2023110"/>
            <a:ext cx="1767840" cy="18288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7" name="Text 25"/>
          <p:cNvSpPr/>
          <p:nvPr/>
        </p:nvSpPr>
        <p:spPr>
          <a:xfrm>
            <a:off x="2279904" y="1670304"/>
            <a:ext cx="176784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🧱 纵横交错式</a:t>
            </a:r>
            <a:endParaRPr lang="en-US" sz="1465" dirty="0"/>
          </a:p>
        </p:txBody>
      </p:sp>
      <p:sp>
        <p:nvSpPr>
          <p:cNvPr id="28" name="Shape 26"/>
          <p:cNvSpPr/>
          <p:nvPr/>
        </p:nvSpPr>
        <p:spPr>
          <a:xfrm>
            <a:off x="2426208" y="2478024"/>
            <a:ext cx="1475232" cy="8534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9" name="Shape 27"/>
          <p:cNvSpPr/>
          <p:nvPr/>
        </p:nvSpPr>
        <p:spPr>
          <a:xfrm>
            <a:off x="2490376" y="2231296"/>
            <a:ext cx="416453" cy="416453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55597" y="2231296"/>
            <a:ext cx="416453" cy="416453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20819" y="2231296"/>
            <a:ext cx="416453" cy="416453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90376" y="2696517"/>
            <a:ext cx="416453" cy="416453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55597" y="2696517"/>
            <a:ext cx="416453" cy="416453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20819" y="2696517"/>
            <a:ext cx="416453" cy="416453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77440" y="3404616"/>
            <a:ext cx="1572768" cy="3413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相邻层90度旋转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401824" y="3770376"/>
            <a:ext cx="1524000" cy="268224"/>
          </a:xfrm>
          <a:prstGeom prst="rect">
            <a:avLst/>
          </a:prstGeom>
          <a:solidFill>
            <a:srgbClr val="10B981">
              <a:alpha val="15000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2401824" y="3770376"/>
            <a:ext cx="152400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5" dirty="0">
                <a:solidFill>
                  <a:srgbClr val="10B98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✓ 咬合稳固</a:t>
            </a:r>
            <a:endParaRPr lang="en-US" sz="1065" dirty="0"/>
          </a:p>
        </p:txBody>
      </p:sp>
      <p:sp>
        <p:nvSpPr>
          <p:cNvPr id="38" name="Text 36"/>
          <p:cNvSpPr/>
          <p:nvPr/>
        </p:nvSpPr>
        <p:spPr>
          <a:xfrm>
            <a:off x="2377440" y="4087368"/>
            <a:ext cx="1572768" cy="3413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35" dirty="0">
                <a:solidFill>
                  <a:srgbClr val="64748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适用: 方形包装</a:t>
            </a:r>
            <a:endParaRPr lang="en-US" sz="935" dirty="0"/>
          </a:p>
        </p:txBody>
      </p:sp>
      <p:sp>
        <p:nvSpPr>
          <p:cNvPr id="39" name="Shape 37"/>
          <p:cNvSpPr/>
          <p:nvPr/>
        </p:nvSpPr>
        <p:spPr>
          <a:xfrm>
            <a:off x="4194048" y="1645920"/>
            <a:ext cx="17678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194048" y="1645920"/>
            <a:ext cx="1767840" cy="426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1" name="Shape 39"/>
          <p:cNvSpPr/>
          <p:nvPr/>
        </p:nvSpPr>
        <p:spPr>
          <a:xfrm>
            <a:off x="4194048" y="2023110"/>
            <a:ext cx="1767840" cy="1828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2" name="Text 40"/>
          <p:cNvSpPr/>
          <p:nvPr/>
        </p:nvSpPr>
        <p:spPr>
          <a:xfrm>
            <a:off x="4194048" y="1670304"/>
            <a:ext cx="176784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🏗️ 正反交错式</a:t>
            </a:r>
            <a:endParaRPr lang="en-US" sz="1465" dirty="0"/>
          </a:p>
        </p:txBody>
      </p:sp>
      <p:sp>
        <p:nvSpPr>
          <p:cNvPr id="43" name="Shape 41"/>
          <p:cNvSpPr/>
          <p:nvPr/>
        </p:nvSpPr>
        <p:spPr>
          <a:xfrm>
            <a:off x="4340352" y="2478024"/>
            <a:ext cx="1475232" cy="8534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4" name="Shape 42"/>
          <p:cNvSpPr/>
          <p:nvPr/>
        </p:nvSpPr>
        <p:spPr>
          <a:xfrm>
            <a:off x="4365752" y="2376679"/>
            <a:ext cx="319532" cy="31953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34052" y="2376679"/>
            <a:ext cx="319532" cy="31953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02352" y="2376679"/>
            <a:ext cx="319532" cy="31953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70652" y="2376679"/>
            <a:ext cx="319532" cy="31953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102352" y="2744979"/>
            <a:ext cx="319532" cy="31953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70652" y="2744979"/>
            <a:ext cx="319532" cy="31953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65752" y="3113279"/>
            <a:ext cx="319532" cy="31953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34052" y="3113279"/>
            <a:ext cx="319532" cy="31953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91584" y="3404616"/>
            <a:ext cx="1572768" cy="3413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像砌砖一样错位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315968" y="3770376"/>
            <a:ext cx="1524000" cy="268224"/>
          </a:xfrm>
          <a:prstGeom prst="rect">
            <a:avLst/>
          </a:prstGeom>
          <a:solidFill>
            <a:srgbClr val="F59E0B">
              <a:alpha val="15000"/>
            </a:srgbClr>
          </a:solidFill>
        </p:spPr>
      </p:sp>
      <p:sp>
        <p:nvSpPr>
          <p:cNvPr id="54" name="Text 52"/>
          <p:cNvSpPr/>
          <p:nvPr/>
        </p:nvSpPr>
        <p:spPr>
          <a:xfrm>
            <a:off x="4315968" y="3770376"/>
            <a:ext cx="152400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5" dirty="0">
                <a:solidFill>
                  <a:srgbClr val="F59E0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✓ 稳定性高</a:t>
            </a:r>
            <a:endParaRPr lang="en-US" sz="1065" dirty="0"/>
          </a:p>
        </p:txBody>
      </p:sp>
      <p:sp>
        <p:nvSpPr>
          <p:cNvPr id="55" name="Text 53"/>
          <p:cNvSpPr/>
          <p:nvPr/>
        </p:nvSpPr>
        <p:spPr>
          <a:xfrm>
            <a:off x="4291584" y="4087368"/>
            <a:ext cx="1572768" cy="3413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35" dirty="0">
                <a:solidFill>
                  <a:srgbClr val="64748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适用: 大多数包装</a:t>
            </a:r>
            <a:endParaRPr lang="en-US" sz="935" dirty="0"/>
          </a:p>
        </p:txBody>
      </p:sp>
      <p:sp>
        <p:nvSpPr>
          <p:cNvPr id="56" name="Shape 54"/>
          <p:cNvSpPr/>
          <p:nvPr/>
        </p:nvSpPr>
        <p:spPr>
          <a:xfrm>
            <a:off x="6108192" y="1645920"/>
            <a:ext cx="17678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108192" y="1645920"/>
            <a:ext cx="1767840" cy="42672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58" name="Shape 56"/>
          <p:cNvSpPr/>
          <p:nvPr/>
        </p:nvSpPr>
        <p:spPr>
          <a:xfrm>
            <a:off x="6108192" y="2023110"/>
            <a:ext cx="1767840" cy="18288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59" name="Text 57"/>
          <p:cNvSpPr/>
          <p:nvPr/>
        </p:nvSpPr>
        <p:spPr>
          <a:xfrm>
            <a:off x="6108192" y="1670304"/>
            <a:ext cx="176784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💨 通风式</a:t>
            </a:r>
            <a:endParaRPr lang="en-US" sz="1465" dirty="0"/>
          </a:p>
        </p:txBody>
      </p:sp>
      <p:sp>
        <p:nvSpPr>
          <p:cNvPr id="60" name="Shape 58"/>
          <p:cNvSpPr/>
          <p:nvPr/>
        </p:nvSpPr>
        <p:spPr>
          <a:xfrm>
            <a:off x="6254496" y="2478024"/>
            <a:ext cx="1475232" cy="8534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1" name="Shape 59"/>
          <p:cNvSpPr/>
          <p:nvPr/>
        </p:nvSpPr>
        <p:spPr>
          <a:xfrm>
            <a:off x="6279896" y="2376679"/>
            <a:ext cx="319532" cy="319532"/>
          </a:xfrm>
          <a:prstGeom prst="rect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16496" y="2376679"/>
            <a:ext cx="319532" cy="319532"/>
          </a:xfrm>
          <a:prstGeom prst="rect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79896" y="2744979"/>
            <a:ext cx="319532" cy="319532"/>
          </a:xfrm>
          <a:prstGeom prst="rect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016496" y="2744979"/>
            <a:ext cx="319532" cy="319532"/>
          </a:xfrm>
          <a:prstGeom prst="rect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79896" y="3113279"/>
            <a:ext cx="319532" cy="319532"/>
          </a:xfrm>
          <a:prstGeom prst="rect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016496" y="3113279"/>
            <a:ext cx="319532" cy="319532"/>
          </a:xfrm>
          <a:prstGeom prst="rect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05728" y="3404616"/>
            <a:ext cx="1572768" cy="3413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留有通风间隙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6230112" y="3770376"/>
            <a:ext cx="1524000" cy="268224"/>
          </a:xfrm>
          <a:prstGeom prst="rect">
            <a:avLst/>
          </a:prstGeom>
          <a:solidFill>
            <a:srgbClr val="8B5CF6">
              <a:alpha val="15000"/>
            </a:srgbClr>
          </a:solidFill>
        </p:spPr>
      </p:sp>
      <p:sp>
        <p:nvSpPr>
          <p:cNvPr id="69" name="Text 67"/>
          <p:cNvSpPr/>
          <p:nvPr/>
        </p:nvSpPr>
        <p:spPr>
          <a:xfrm>
            <a:off x="6230112" y="3770376"/>
            <a:ext cx="152400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5" dirty="0">
                <a:solidFill>
                  <a:srgbClr val="8B5CF6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✓ 防潮通风</a:t>
            </a:r>
            <a:endParaRPr lang="en-US" sz="1065" dirty="0"/>
          </a:p>
        </p:txBody>
      </p:sp>
      <p:sp>
        <p:nvSpPr>
          <p:cNvPr id="70" name="Text 68"/>
          <p:cNvSpPr/>
          <p:nvPr/>
        </p:nvSpPr>
        <p:spPr>
          <a:xfrm>
            <a:off x="6205728" y="4087368"/>
            <a:ext cx="1572768" cy="3413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35" dirty="0">
                <a:solidFill>
                  <a:srgbClr val="64748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适用: 怕潮货物</a:t>
            </a:r>
            <a:endParaRPr lang="en-US" sz="935" dirty="0"/>
          </a:p>
        </p:txBody>
      </p:sp>
      <p:sp>
        <p:nvSpPr>
          <p:cNvPr id="71" name="Shape 69"/>
          <p:cNvSpPr/>
          <p:nvPr/>
        </p:nvSpPr>
        <p:spPr>
          <a:xfrm>
            <a:off x="8022336" y="1645920"/>
            <a:ext cx="17678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8022336" y="1645920"/>
            <a:ext cx="1767840" cy="426720"/>
          </a:xfrm>
          <a:prstGeom prst="rect">
            <a:avLst/>
          </a:prstGeom>
          <a:solidFill>
            <a:srgbClr val="EC4899"/>
          </a:solidFill>
        </p:spPr>
      </p:sp>
      <p:sp>
        <p:nvSpPr>
          <p:cNvPr id="73" name="Shape 71"/>
          <p:cNvSpPr/>
          <p:nvPr/>
        </p:nvSpPr>
        <p:spPr>
          <a:xfrm>
            <a:off x="8022336" y="2023110"/>
            <a:ext cx="1767840" cy="182880"/>
          </a:xfrm>
          <a:prstGeom prst="rect">
            <a:avLst/>
          </a:prstGeom>
          <a:solidFill>
            <a:srgbClr val="EC4899"/>
          </a:solidFill>
        </p:spPr>
      </p:sp>
      <p:sp>
        <p:nvSpPr>
          <p:cNvPr id="74" name="Text 72"/>
          <p:cNvSpPr/>
          <p:nvPr/>
        </p:nvSpPr>
        <p:spPr>
          <a:xfrm>
            <a:off x="8022336" y="1670304"/>
            <a:ext cx="176784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🔄 旋转交错式</a:t>
            </a:r>
            <a:endParaRPr lang="en-US" sz="1465" dirty="0"/>
          </a:p>
        </p:txBody>
      </p:sp>
      <p:sp>
        <p:nvSpPr>
          <p:cNvPr id="75" name="Shape 73"/>
          <p:cNvSpPr/>
          <p:nvPr/>
        </p:nvSpPr>
        <p:spPr>
          <a:xfrm>
            <a:off x="8168640" y="2478024"/>
            <a:ext cx="1475232" cy="8534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6" name="Shape 74"/>
          <p:cNvSpPr/>
          <p:nvPr/>
        </p:nvSpPr>
        <p:spPr>
          <a:xfrm>
            <a:off x="8232808" y="2231296"/>
            <a:ext cx="416453" cy="416453"/>
          </a:xfrm>
          <a:prstGeom prst="rect">
            <a:avLst/>
          </a:prstGeom>
          <a:solidFill>
            <a:srgbClr val="EC4899">
              <a:alpha val="7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698029" y="2231296"/>
            <a:ext cx="416453" cy="416453"/>
          </a:xfrm>
          <a:prstGeom prst="rect">
            <a:avLst/>
          </a:prstGeom>
          <a:solidFill>
            <a:srgbClr val="EC4899">
              <a:alpha val="7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232808" y="2696517"/>
            <a:ext cx="416453" cy="416453"/>
          </a:xfrm>
          <a:prstGeom prst="rect">
            <a:avLst/>
          </a:prstGeom>
          <a:solidFill>
            <a:srgbClr val="EC4899">
              <a:alpha val="7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698029" y="2696517"/>
            <a:ext cx="416453" cy="416453"/>
          </a:xfrm>
          <a:prstGeom prst="rect">
            <a:avLst/>
          </a:prstGeom>
          <a:solidFill>
            <a:srgbClr val="EC4899">
              <a:alpha val="7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119872" y="3404616"/>
            <a:ext cx="1572768" cy="3413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相邻90度中间空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8144256" y="3770376"/>
            <a:ext cx="1524000" cy="268224"/>
          </a:xfrm>
          <a:prstGeom prst="rect">
            <a:avLst/>
          </a:prstGeom>
          <a:solidFill>
            <a:srgbClr val="EC4899">
              <a:alpha val="15000"/>
            </a:srgbClr>
          </a:solidFill>
        </p:spPr>
      </p:sp>
      <p:sp>
        <p:nvSpPr>
          <p:cNvPr id="82" name="Text 80"/>
          <p:cNvSpPr/>
          <p:nvPr/>
        </p:nvSpPr>
        <p:spPr>
          <a:xfrm>
            <a:off x="8144256" y="3770376"/>
            <a:ext cx="152400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5" dirty="0">
                <a:solidFill>
                  <a:srgbClr val="EC4899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✓ 最稳固</a:t>
            </a:r>
            <a:endParaRPr lang="en-US" sz="1065" dirty="0"/>
          </a:p>
        </p:txBody>
      </p:sp>
      <p:sp>
        <p:nvSpPr>
          <p:cNvPr id="83" name="Text 81"/>
          <p:cNvSpPr/>
          <p:nvPr/>
        </p:nvSpPr>
        <p:spPr>
          <a:xfrm>
            <a:off x="8119872" y="4087368"/>
            <a:ext cx="1572768" cy="3413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35" dirty="0">
                <a:solidFill>
                  <a:srgbClr val="64748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适用: 高堆垛</a:t>
            </a:r>
            <a:endParaRPr lang="en-US" sz="935" dirty="0"/>
          </a:p>
        </p:txBody>
      </p:sp>
      <p:sp>
        <p:nvSpPr>
          <p:cNvPr id="84" name="Shape 82"/>
          <p:cNvSpPr/>
          <p:nvPr/>
        </p:nvSpPr>
        <p:spPr>
          <a:xfrm>
            <a:off x="9936480" y="1645920"/>
            <a:ext cx="17678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9936480" y="1645920"/>
            <a:ext cx="1767840" cy="42672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86" name="Shape 84"/>
          <p:cNvSpPr/>
          <p:nvPr/>
        </p:nvSpPr>
        <p:spPr>
          <a:xfrm>
            <a:off x="9936480" y="2023110"/>
            <a:ext cx="1767840" cy="18288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87" name="Text 85"/>
          <p:cNvSpPr/>
          <p:nvPr/>
        </p:nvSpPr>
        <p:spPr>
          <a:xfrm>
            <a:off x="9936480" y="1670304"/>
            <a:ext cx="176784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🧮 五五堆码</a:t>
            </a:r>
            <a:endParaRPr lang="en-US" sz="1465" dirty="0"/>
          </a:p>
        </p:txBody>
      </p:sp>
      <p:sp>
        <p:nvSpPr>
          <p:cNvPr id="88" name="Shape 86"/>
          <p:cNvSpPr/>
          <p:nvPr/>
        </p:nvSpPr>
        <p:spPr>
          <a:xfrm>
            <a:off x="10082784" y="2478024"/>
            <a:ext cx="1475232" cy="8534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9" name="Shape 87"/>
          <p:cNvSpPr/>
          <p:nvPr/>
        </p:nvSpPr>
        <p:spPr>
          <a:xfrm>
            <a:off x="10612173" y="2231296"/>
            <a:ext cx="416453" cy="416453"/>
          </a:xfrm>
          <a:prstGeom prst="rect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146952" y="2696517"/>
            <a:ext cx="416453" cy="416453"/>
          </a:xfrm>
          <a:prstGeom prst="rect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612173" y="2696517"/>
            <a:ext cx="416453" cy="416453"/>
          </a:xfrm>
          <a:prstGeom prst="rect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077395" y="2696517"/>
            <a:ext cx="416453" cy="416453"/>
          </a:xfrm>
          <a:prstGeom prst="rect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612173" y="3161739"/>
            <a:ext cx="416453" cy="416453"/>
          </a:xfrm>
          <a:prstGeom prst="rect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034016" y="3404616"/>
            <a:ext cx="1572768" cy="3413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以五为基本计数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10058400" y="3770376"/>
            <a:ext cx="1524000" cy="268224"/>
          </a:xfrm>
          <a:prstGeom prst="rect">
            <a:avLst/>
          </a:prstGeom>
          <a:solidFill>
            <a:srgbClr val="14B8A6">
              <a:alpha val="15000"/>
            </a:srgbClr>
          </a:solidFill>
        </p:spPr>
      </p:sp>
      <p:sp>
        <p:nvSpPr>
          <p:cNvPr id="96" name="Text 94"/>
          <p:cNvSpPr/>
          <p:nvPr/>
        </p:nvSpPr>
        <p:spPr>
          <a:xfrm>
            <a:off x="10058400" y="3770376"/>
            <a:ext cx="152400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5" dirty="0">
                <a:solidFill>
                  <a:srgbClr val="14B8A6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✓ 便于清点</a:t>
            </a:r>
            <a:endParaRPr lang="en-US" sz="1065" dirty="0"/>
          </a:p>
        </p:txBody>
      </p:sp>
      <p:sp>
        <p:nvSpPr>
          <p:cNvPr id="97" name="Text 95"/>
          <p:cNvSpPr/>
          <p:nvPr/>
        </p:nvSpPr>
        <p:spPr>
          <a:xfrm>
            <a:off x="10034016" y="4087368"/>
            <a:ext cx="1572768" cy="3413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35" dirty="0">
                <a:solidFill>
                  <a:srgbClr val="64748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适用: 按件计量物资</a:t>
            </a:r>
            <a:endParaRPr lang="en-US" sz="935" dirty="0"/>
          </a:p>
        </p:txBody>
      </p:sp>
      <p:sp>
        <p:nvSpPr>
          <p:cNvPr id="98" name="Shape 96"/>
          <p:cNvSpPr/>
          <p:nvPr/>
        </p:nvSpPr>
        <p:spPr>
          <a:xfrm>
            <a:off x="365760" y="4408170"/>
            <a:ext cx="11460480" cy="487680"/>
          </a:xfrm>
          <a:prstGeom prst="rect">
            <a:avLst/>
          </a:prstGeom>
          <a:solidFill>
            <a:srgbClr val="14B8A6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487680" y="4469130"/>
            <a:ext cx="11216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🧮 五五堆码法详解 — 以「五」为基本计数单位，便于清点与管理</a:t>
            </a:r>
            <a:endParaRPr lang="en-US" sz="1865" dirty="0"/>
          </a:p>
        </p:txBody>
      </p:sp>
      <p:sp>
        <p:nvSpPr>
          <p:cNvPr id="100" name="Shape 98"/>
          <p:cNvSpPr/>
          <p:nvPr/>
        </p:nvSpPr>
        <p:spPr>
          <a:xfrm>
            <a:off x="487680" y="5042154"/>
            <a:ext cx="268224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487680" y="5042154"/>
            <a:ext cx="97536" cy="121920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102" name="Text 100"/>
          <p:cNvSpPr/>
          <p:nvPr/>
        </p:nvSpPr>
        <p:spPr>
          <a:xfrm>
            <a:off x="670560" y="5139690"/>
            <a:ext cx="2438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平行五</a:t>
            </a:r>
            <a:endParaRPr lang="en-US" sz="1600" dirty="0"/>
          </a:p>
        </p:txBody>
      </p:sp>
      <p:sp>
        <p:nvSpPr>
          <p:cNvPr id="103" name="Text 101"/>
          <p:cNvSpPr/>
          <p:nvPr/>
        </p:nvSpPr>
        <p:spPr>
          <a:xfrm>
            <a:off x="670560" y="5432298"/>
            <a:ext cx="109728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▭▭▭</a:t>
            </a:r>
            <a:endParaRPr lang="en-US" sz="1465" dirty="0"/>
          </a:p>
          <a:p>
            <a:pPr marL="0" indent="0">
              <a:buNone/>
            </a:pPr>
            <a:r>
              <a:rPr lang="en-US" sz="1465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▭▭▭</a:t>
            </a:r>
            <a:endParaRPr lang="en-US" sz="1465" dirty="0"/>
          </a:p>
        </p:txBody>
      </p:sp>
      <p:sp>
        <p:nvSpPr>
          <p:cNvPr id="104" name="Text 102"/>
          <p:cNvSpPr/>
          <p:nvPr/>
        </p:nvSpPr>
        <p:spPr>
          <a:xfrm>
            <a:off x="1706880" y="5432298"/>
            <a:ext cx="134112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五件物资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平摆平放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3352800" y="5042154"/>
            <a:ext cx="268224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3352800" y="5042154"/>
            <a:ext cx="97536" cy="121920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107" name="Text 105"/>
          <p:cNvSpPr/>
          <p:nvPr/>
        </p:nvSpPr>
        <p:spPr>
          <a:xfrm>
            <a:off x="3535680" y="5139690"/>
            <a:ext cx="2438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直立五</a:t>
            </a:r>
            <a:endParaRPr lang="en-US" sz="1600" dirty="0"/>
          </a:p>
        </p:txBody>
      </p:sp>
      <p:sp>
        <p:nvSpPr>
          <p:cNvPr id="108" name="Text 106"/>
          <p:cNvSpPr/>
          <p:nvPr/>
        </p:nvSpPr>
        <p:spPr>
          <a:xfrm>
            <a:off x="3535680" y="5432298"/>
            <a:ext cx="109728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▭</a:t>
            </a:r>
            <a:endParaRPr lang="en-US" sz="1465" dirty="0"/>
          </a:p>
          <a:p>
            <a:pPr marL="0" indent="0">
              <a:buNone/>
            </a:pPr>
            <a:r>
              <a:rPr lang="en-US" sz="1465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▭</a:t>
            </a:r>
            <a:endParaRPr lang="en-US" sz="1465" dirty="0"/>
          </a:p>
          <a:p>
            <a:pPr marL="0" indent="0">
              <a:buNone/>
            </a:pPr>
            <a:r>
              <a:rPr lang="en-US" sz="1465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▭</a:t>
            </a:r>
            <a:endParaRPr lang="en-US" sz="1465" dirty="0"/>
          </a:p>
        </p:txBody>
      </p:sp>
      <p:sp>
        <p:nvSpPr>
          <p:cNvPr id="109" name="Text 107"/>
          <p:cNvSpPr/>
          <p:nvPr/>
        </p:nvSpPr>
        <p:spPr>
          <a:xfrm>
            <a:off x="4572000" y="5432298"/>
            <a:ext cx="134112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五件物资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重叠码放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6217920" y="5042154"/>
            <a:ext cx="268224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6217920" y="5042154"/>
            <a:ext cx="97536" cy="121920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112" name="Text 110"/>
          <p:cNvSpPr/>
          <p:nvPr/>
        </p:nvSpPr>
        <p:spPr>
          <a:xfrm>
            <a:off x="6400800" y="5139690"/>
            <a:ext cx="2438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梅花五</a:t>
            </a:r>
            <a:endParaRPr lang="en-US" sz="1600" dirty="0"/>
          </a:p>
        </p:txBody>
      </p:sp>
      <p:sp>
        <p:nvSpPr>
          <p:cNvPr id="113" name="Text 111"/>
          <p:cNvSpPr/>
          <p:nvPr/>
        </p:nvSpPr>
        <p:spPr>
          <a:xfrm>
            <a:off x="6400800" y="5432298"/>
            <a:ext cx="109728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▭</a:t>
            </a:r>
            <a:endParaRPr lang="en-US" sz="1465" dirty="0"/>
          </a:p>
          <a:p>
            <a:pPr marL="0" indent="0">
              <a:buNone/>
            </a:pPr>
            <a:r>
              <a:rPr lang="en-US" sz="1465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▭ ▭</a:t>
            </a:r>
            <a:endParaRPr lang="en-US" sz="1465" dirty="0"/>
          </a:p>
          <a:p>
            <a:pPr marL="0" indent="0">
              <a:buNone/>
            </a:pPr>
            <a:r>
              <a:rPr lang="en-US" sz="1465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▭</a:t>
            </a:r>
            <a:endParaRPr lang="en-US" sz="1465" dirty="0"/>
          </a:p>
        </p:txBody>
      </p:sp>
      <p:sp>
        <p:nvSpPr>
          <p:cNvPr id="114" name="Text 112"/>
          <p:cNvSpPr/>
          <p:nvPr/>
        </p:nvSpPr>
        <p:spPr>
          <a:xfrm>
            <a:off x="7437120" y="5432298"/>
            <a:ext cx="134112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环形排列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成梅花状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9083040" y="5042154"/>
            <a:ext cx="268224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6" name="Shape 114"/>
          <p:cNvSpPr/>
          <p:nvPr/>
        </p:nvSpPr>
        <p:spPr>
          <a:xfrm>
            <a:off x="9083040" y="5042154"/>
            <a:ext cx="97536" cy="121920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117" name="Text 115"/>
          <p:cNvSpPr/>
          <p:nvPr/>
        </p:nvSpPr>
        <p:spPr>
          <a:xfrm>
            <a:off x="9265920" y="5139690"/>
            <a:ext cx="2438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行列五</a:t>
            </a:r>
            <a:endParaRPr lang="en-US" sz="1600" dirty="0"/>
          </a:p>
        </p:txBody>
      </p:sp>
      <p:sp>
        <p:nvSpPr>
          <p:cNvPr id="118" name="Text 116"/>
          <p:cNvSpPr/>
          <p:nvPr/>
        </p:nvSpPr>
        <p:spPr>
          <a:xfrm>
            <a:off x="9265920" y="5432298"/>
            <a:ext cx="109728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▭▭▭</a:t>
            </a:r>
            <a:endParaRPr lang="en-US" sz="1465" dirty="0"/>
          </a:p>
          <a:p>
            <a:pPr marL="0" indent="0">
              <a:buNone/>
            </a:pPr>
            <a:r>
              <a:rPr lang="en-US" sz="1465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▭▭▭</a:t>
            </a:r>
            <a:endParaRPr lang="en-US" sz="1465" dirty="0"/>
          </a:p>
          <a:p>
            <a:pPr marL="0" indent="0">
              <a:buNone/>
            </a:pPr>
            <a:r>
              <a:rPr lang="en-US" sz="1465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▭▭▭</a:t>
            </a:r>
            <a:endParaRPr lang="en-US" sz="1465" dirty="0"/>
          </a:p>
        </p:txBody>
      </p:sp>
      <p:sp>
        <p:nvSpPr>
          <p:cNvPr id="119" name="Text 117"/>
          <p:cNvSpPr/>
          <p:nvPr/>
        </p:nvSpPr>
        <p:spPr>
          <a:xfrm>
            <a:off x="10302240" y="5432298"/>
            <a:ext cx="134112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行列均码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成五的倍数</a:t>
            </a:r>
            <a:endParaRPr lang="en-US" sz="1200" dirty="0"/>
          </a:p>
        </p:txBody>
      </p:sp>
      <p:sp>
        <p:nvSpPr>
          <p:cNvPr id="120" name="Shape 118"/>
          <p:cNvSpPr/>
          <p:nvPr/>
        </p:nvSpPr>
        <p:spPr>
          <a:xfrm>
            <a:off x="365760" y="6273546"/>
            <a:ext cx="11460480" cy="463296"/>
          </a:xfrm>
          <a:prstGeom prst="rect">
            <a:avLst/>
          </a:prstGeom>
          <a:solidFill>
            <a:srgbClr val="FEF3C7"/>
          </a:solidFill>
        </p:spPr>
      </p:sp>
      <p:sp>
        <p:nvSpPr>
          <p:cNvPr id="121" name="Text 119"/>
          <p:cNvSpPr/>
          <p:nvPr/>
        </p:nvSpPr>
        <p:spPr>
          <a:xfrm>
            <a:off x="487680" y="6322314"/>
            <a:ext cx="11216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92400E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💡 提示：选择堆码方式时需考虑货物特性（重量、体积、形状）、仓库条件（高度、通风）、作业方式（人工/机械）等因素，合理选择可提高仓容利用率15%~30%</a:t>
            </a:r>
            <a:endParaRPr lang="en-US" sz="133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609600" y="3048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3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盘点方法与流程</a:t>
            </a:r>
            <a:endParaRPr lang="en-US" sz="3735" dirty="0"/>
          </a:p>
        </p:txBody>
      </p:sp>
      <p:sp>
        <p:nvSpPr>
          <p:cNvPr id="4" name="Text 2"/>
          <p:cNvSpPr/>
          <p:nvPr/>
        </p:nvSpPr>
        <p:spPr>
          <a:xfrm>
            <a:off x="609600" y="1524000"/>
            <a:ext cx="487680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四大盘点方式</a:t>
            </a:r>
            <a:endParaRPr lang="en-US" sz="1865" dirty="0"/>
          </a:p>
        </p:txBody>
      </p:sp>
      <p:sp>
        <p:nvSpPr>
          <p:cNvPr id="5" name="Shape 3"/>
          <p:cNvSpPr/>
          <p:nvPr/>
        </p:nvSpPr>
        <p:spPr>
          <a:xfrm>
            <a:off x="609600" y="2072640"/>
            <a:ext cx="5242560" cy="975360"/>
          </a:xfrm>
          <a:prstGeom prst="roundRect">
            <a:avLst>
              <a:gd name="adj" fmla="val 7500"/>
            </a:avLst>
          </a:prstGeom>
          <a:solidFill>
            <a:srgbClr val="FFFFFF"/>
          </a:solidFill>
        </p:spPr>
      </p:sp>
      <p:sp>
        <p:nvSpPr>
          <p:cNvPr id="6" name="Shape 4"/>
          <p:cNvSpPr/>
          <p:nvPr/>
        </p:nvSpPr>
        <p:spPr>
          <a:xfrm>
            <a:off x="609600" y="2072640"/>
            <a:ext cx="182880" cy="975360"/>
          </a:xfrm>
          <a:prstGeom prst="rect">
            <a:avLst/>
          </a:prstGeom>
          <a:solidFill>
            <a:srgbClr val="FF6F00"/>
          </a:solidFill>
        </p:spPr>
      </p:sp>
      <p:sp>
        <p:nvSpPr>
          <p:cNvPr id="7" name="Text 5"/>
          <p:cNvSpPr/>
          <p:nvPr/>
        </p:nvSpPr>
        <p:spPr>
          <a:xfrm>
            <a:off x="975360" y="2194560"/>
            <a:ext cx="18288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全面盘点</a:t>
            </a:r>
            <a:endParaRPr lang="en-US" sz="1735" dirty="0"/>
          </a:p>
        </p:txBody>
      </p:sp>
      <p:sp>
        <p:nvSpPr>
          <p:cNvPr id="8" name="Text 6"/>
          <p:cNvSpPr/>
          <p:nvPr/>
        </p:nvSpPr>
        <p:spPr>
          <a:xfrm>
            <a:off x="975360" y="25603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75757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100%清点</a:t>
            </a:r>
            <a:endParaRPr lang="en-US" sz="1335" dirty="0"/>
          </a:p>
        </p:txBody>
      </p:sp>
      <p:sp>
        <p:nvSpPr>
          <p:cNvPr id="9" name="Text 7"/>
          <p:cNvSpPr/>
          <p:nvPr/>
        </p:nvSpPr>
        <p:spPr>
          <a:xfrm>
            <a:off x="4267200" y="2316480"/>
            <a:ext cx="146304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35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年末/季末</a:t>
            </a:r>
            <a:endParaRPr lang="en-US" sz="1335" dirty="0"/>
          </a:p>
        </p:txBody>
      </p:sp>
      <p:sp>
        <p:nvSpPr>
          <p:cNvPr id="10" name="Shape 8"/>
          <p:cNvSpPr/>
          <p:nvPr/>
        </p:nvSpPr>
        <p:spPr>
          <a:xfrm>
            <a:off x="609600" y="3169920"/>
            <a:ext cx="5242560" cy="975360"/>
          </a:xfrm>
          <a:prstGeom prst="roundRect">
            <a:avLst>
              <a:gd name="adj" fmla="val 7500"/>
            </a:avLst>
          </a:prstGeom>
          <a:solidFill>
            <a:srgbClr val="FFFFFF"/>
          </a:solidFill>
        </p:spPr>
      </p:sp>
      <p:sp>
        <p:nvSpPr>
          <p:cNvPr id="11" name="Shape 9"/>
          <p:cNvSpPr/>
          <p:nvPr/>
        </p:nvSpPr>
        <p:spPr>
          <a:xfrm>
            <a:off x="609600" y="3169920"/>
            <a:ext cx="182880" cy="975360"/>
          </a:xfrm>
          <a:prstGeom prst="rect">
            <a:avLst/>
          </a:prstGeom>
          <a:solidFill>
            <a:srgbClr val="FF6F00"/>
          </a:solidFill>
        </p:spPr>
      </p:sp>
      <p:sp>
        <p:nvSpPr>
          <p:cNvPr id="12" name="Text 10"/>
          <p:cNvSpPr/>
          <p:nvPr/>
        </p:nvSpPr>
        <p:spPr>
          <a:xfrm>
            <a:off x="975360" y="3291840"/>
            <a:ext cx="18288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循环盘点</a:t>
            </a:r>
            <a:endParaRPr lang="en-US" sz="1735" dirty="0"/>
          </a:p>
        </p:txBody>
      </p:sp>
      <p:sp>
        <p:nvSpPr>
          <p:cNvPr id="13" name="Text 11"/>
          <p:cNvSpPr/>
          <p:nvPr/>
        </p:nvSpPr>
        <p:spPr>
          <a:xfrm>
            <a:off x="975360" y="36576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75757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持续滚动</a:t>
            </a:r>
            <a:endParaRPr lang="en-US" sz="1335" dirty="0"/>
          </a:p>
        </p:txBody>
      </p:sp>
      <p:sp>
        <p:nvSpPr>
          <p:cNvPr id="14" name="Text 12"/>
          <p:cNvSpPr/>
          <p:nvPr/>
        </p:nvSpPr>
        <p:spPr>
          <a:xfrm>
            <a:off x="4267200" y="3413760"/>
            <a:ext cx="146304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35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日常管理</a:t>
            </a:r>
            <a:endParaRPr lang="en-US" sz="1335" dirty="0"/>
          </a:p>
        </p:txBody>
      </p:sp>
      <p:sp>
        <p:nvSpPr>
          <p:cNvPr id="15" name="Shape 13"/>
          <p:cNvSpPr/>
          <p:nvPr/>
        </p:nvSpPr>
        <p:spPr>
          <a:xfrm>
            <a:off x="609600" y="4267200"/>
            <a:ext cx="5242560" cy="975360"/>
          </a:xfrm>
          <a:prstGeom prst="roundRect">
            <a:avLst>
              <a:gd name="adj" fmla="val 7500"/>
            </a:avLst>
          </a:prstGeom>
          <a:solidFill>
            <a:srgbClr val="FFFFFF"/>
          </a:solidFill>
        </p:spPr>
      </p:sp>
      <p:sp>
        <p:nvSpPr>
          <p:cNvPr id="16" name="Shape 14"/>
          <p:cNvSpPr/>
          <p:nvPr/>
        </p:nvSpPr>
        <p:spPr>
          <a:xfrm>
            <a:off x="609600" y="4267200"/>
            <a:ext cx="182880" cy="975360"/>
          </a:xfrm>
          <a:prstGeom prst="rect">
            <a:avLst/>
          </a:prstGeom>
          <a:solidFill>
            <a:srgbClr val="FF6F00"/>
          </a:solidFill>
        </p:spPr>
      </p:sp>
      <p:sp>
        <p:nvSpPr>
          <p:cNvPr id="17" name="Text 15"/>
          <p:cNvSpPr/>
          <p:nvPr/>
        </p:nvSpPr>
        <p:spPr>
          <a:xfrm>
            <a:off x="975360" y="4389120"/>
            <a:ext cx="18288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重点盘点（</a:t>
            </a:r>
            <a:r>
              <a:rPr lang="zh-CN" altLang="en-US" sz="173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抽盘</a:t>
            </a:r>
            <a:r>
              <a:rPr lang="en-US" sz="173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）</a:t>
            </a:r>
            <a:endParaRPr lang="en-US" sz="1735" dirty="0"/>
          </a:p>
        </p:txBody>
      </p:sp>
      <p:sp>
        <p:nvSpPr>
          <p:cNvPr id="18" name="Text 16"/>
          <p:cNvSpPr/>
          <p:nvPr/>
        </p:nvSpPr>
        <p:spPr>
          <a:xfrm>
            <a:off x="975360" y="47548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75757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重点区域</a:t>
            </a:r>
            <a:endParaRPr lang="en-US" sz="1335" dirty="0"/>
          </a:p>
        </p:txBody>
      </p:sp>
      <p:sp>
        <p:nvSpPr>
          <p:cNvPr id="19" name="Text 17"/>
          <p:cNvSpPr/>
          <p:nvPr/>
        </p:nvSpPr>
        <p:spPr>
          <a:xfrm>
            <a:off x="4267200" y="4511040"/>
            <a:ext cx="146304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35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异常货物</a:t>
            </a:r>
            <a:endParaRPr lang="en-US" sz="1335" dirty="0"/>
          </a:p>
        </p:txBody>
      </p:sp>
      <p:sp>
        <p:nvSpPr>
          <p:cNvPr id="20" name="Shape 18"/>
          <p:cNvSpPr/>
          <p:nvPr/>
        </p:nvSpPr>
        <p:spPr>
          <a:xfrm>
            <a:off x="609600" y="5364480"/>
            <a:ext cx="5242560" cy="975360"/>
          </a:xfrm>
          <a:prstGeom prst="roundRect">
            <a:avLst>
              <a:gd name="adj" fmla="val 7500"/>
            </a:avLst>
          </a:prstGeom>
          <a:solidFill>
            <a:srgbClr val="FFFFFF"/>
          </a:solidFill>
        </p:spPr>
      </p:sp>
      <p:sp>
        <p:nvSpPr>
          <p:cNvPr id="21" name="Shape 19"/>
          <p:cNvSpPr/>
          <p:nvPr/>
        </p:nvSpPr>
        <p:spPr>
          <a:xfrm>
            <a:off x="609600" y="5364480"/>
            <a:ext cx="182880" cy="975360"/>
          </a:xfrm>
          <a:prstGeom prst="rect">
            <a:avLst/>
          </a:prstGeom>
          <a:solidFill>
            <a:srgbClr val="FF6F00"/>
          </a:solidFill>
        </p:spPr>
      </p:sp>
      <p:sp>
        <p:nvSpPr>
          <p:cNvPr id="22" name="Text 20"/>
          <p:cNvSpPr/>
          <p:nvPr/>
        </p:nvSpPr>
        <p:spPr>
          <a:xfrm>
            <a:off x="975360" y="5486400"/>
            <a:ext cx="18288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期末盘点</a:t>
            </a:r>
            <a:endParaRPr lang="en-US" sz="1735" dirty="0"/>
          </a:p>
        </p:txBody>
      </p:sp>
      <p:sp>
        <p:nvSpPr>
          <p:cNvPr id="23" name="Text 21"/>
          <p:cNvSpPr/>
          <p:nvPr/>
        </p:nvSpPr>
        <p:spPr>
          <a:xfrm>
            <a:off x="975360" y="58521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75757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定期截止</a:t>
            </a:r>
            <a:endParaRPr lang="en-US" sz="1335" dirty="0"/>
          </a:p>
        </p:txBody>
      </p:sp>
      <p:sp>
        <p:nvSpPr>
          <p:cNvPr id="24" name="Text 22"/>
          <p:cNvSpPr/>
          <p:nvPr/>
        </p:nvSpPr>
        <p:spPr>
          <a:xfrm>
            <a:off x="4267200" y="5608320"/>
            <a:ext cx="146304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35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月度结算</a:t>
            </a:r>
            <a:endParaRPr lang="en-US" sz="1335" dirty="0"/>
          </a:p>
        </p:txBody>
      </p:sp>
      <p:sp>
        <p:nvSpPr>
          <p:cNvPr id="25" name="Text 23"/>
          <p:cNvSpPr/>
          <p:nvPr/>
        </p:nvSpPr>
        <p:spPr>
          <a:xfrm>
            <a:off x="6339840" y="1524000"/>
            <a:ext cx="487680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标准流程</a:t>
            </a:r>
            <a:endParaRPr lang="en-US" sz="1865" dirty="0"/>
          </a:p>
        </p:txBody>
      </p:sp>
      <p:sp>
        <p:nvSpPr>
          <p:cNvPr id="26" name="Shape 24"/>
          <p:cNvSpPr/>
          <p:nvPr/>
        </p:nvSpPr>
        <p:spPr>
          <a:xfrm>
            <a:off x="6461760" y="2072640"/>
            <a:ext cx="426720" cy="426720"/>
          </a:xfrm>
          <a:prstGeom prst="ellipse">
            <a:avLst/>
          </a:prstGeom>
          <a:solidFill>
            <a:srgbClr val="1565C0"/>
          </a:solidFill>
        </p:spPr>
      </p:sp>
      <p:sp>
        <p:nvSpPr>
          <p:cNvPr id="27" name="Text 25"/>
          <p:cNvSpPr/>
          <p:nvPr/>
        </p:nvSpPr>
        <p:spPr>
          <a:xfrm>
            <a:off x="6461760" y="2097024"/>
            <a:ext cx="42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465" dirty="0"/>
          </a:p>
        </p:txBody>
      </p:sp>
      <p:sp>
        <p:nvSpPr>
          <p:cNvPr id="28" name="Text 26"/>
          <p:cNvSpPr/>
          <p:nvPr/>
        </p:nvSpPr>
        <p:spPr>
          <a:xfrm>
            <a:off x="7010400" y="2072640"/>
            <a:ext cx="2438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准备工作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644640" y="2499360"/>
            <a:ext cx="60960" cy="207264"/>
          </a:xfrm>
          <a:prstGeom prst="rect">
            <a:avLst/>
          </a:prstGeom>
          <a:solidFill>
            <a:srgbClr val="757575"/>
          </a:solidFill>
        </p:spPr>
      </p:sp>
      <p:sp>
        <p:nvSpPr>
          <p:cNvPr id="30" name="Shape 28"/>
          <p:cNvSpPr/>
          <p:nvPr/>
        </p:nvSpPr>
        <p:spPr>
          <a:xfrm>
            <a:off x="6461760" y="2706624"/>
            <a:ext cx="426720" cy="426720"/>
          </a:xfrm>
          <a:prstGeom prst="ellipse">
            <a:avLst/>
          </a:prstGeom>
          <a:solidFill>
            <a:srgbClr val="1565C0"/>
          </a:solidFill>
        </p:spPr>
      </p:sp>
      <p:sp>
        <p:nvSpPr>
          <p:cNvPr id="31" name="Text 29"/>
          <p:cNvSpPr/>
          <p:nvPr/>
        </p:nvSpPr>
        <p:spPr>
          <a:xfrm>
            <a:off x="6461760" y="2731008"/>
            <a:ext cx="42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465" dirty="0"/>
          </a:p>
        </p:txBody>
      </p:sp>
      <p:sp>
        <p:nvSpPr>
          <p:cNvPr id="32" name="Text 30"/>
          <p:cNvSpPr/>
          <p:nvPr/>
        </p:nvSpPr>
        <p:spPr>
          <a:xfrm>
            <a:off x="7010400" y="2706624"/>
            <a:ext cx="2438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初盘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644640" y="3133344"/>
            <a:ext cx="60960" cy="207264"/>
          </a:xfrm>
          <a:prstGeom prst="rect">
            <a:avLst/>
          </a:prstGeom>
          <a:solidFill>
            <a:srgbClr val="757575"/>
          </a:solidFill>
        </p:spPr>
      </p:sp>
      <p:sp>
        <p:nvSpPr>
          <p:cNvPr id="34" name="Shape 32"/>
          <p:cNvSpPr/>
          <p:nvPr/>
        </p:nvSpPr>
        <p:spPr>
          <a:xfrm>
            <a:off x="6461760" y="3340608"/>
            <a:ext cx="426720" cy="426720"/>
          </a:xfrm>
          <a:prstGeom prst="ellipse">
            <a:avLst/>
          </a:prstGeom>
          <a:solidFill>
            <a:srgbClr val="1565C0"/>
          </a:solidFill>
        </p:spPr>
      </p:sp>
      <p:sp>
        <p:nvSpPr>
          <p:cNvPr id="35" name="Text 33"/>
          <p:cNvSpPr/>
          <p:nvPr/>
        </p:nvSpPr>
        <p:spPr>
          <a:xfrm>
            <a:off x="6461760" y="3364992"/>
            <a:ext cx="42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465" dirty="0"/>
          </a:p>
        </p:txBody>
      </p:sp>
      <p:sp>
        <p:nvSpPr>
          <p:cNvPr id="36" name="Text 34"/>
          <p:cNvSpPr/>
          <p:nvPr/>
        </p:nvSpPr>
        <p:spPr>
          <a:xfrm>
            <a:off x="7010400" y="3340608"/>
            <a:ext cx="2438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复盘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644640" y="3767328"/>
            <a:ext cx="60960" cy="207264"/>
          </a:xfrm>
          <a:prstGeom prst="rect">
            <a:avLst/>
          </a:prstGeom>
          <a:solidFill>
            <a:srgbClr val="757575"/>
          </a:solidFill>
        </p:spPr>
      </p:sp>
      <p:sp>
        <p:nvSpPr>
          <p:cNvPr id="38" name="Shape 36"/>
          <p:cNvSpPr/>
          <p:nvPr/>
        </p:nvSpPr>
        <p:spPr>
          <a:xfrm>
            <a:off x="6461760" y="3974592"/>
            <a:ext cx="426720" cy="426720"/>
          </a:xfrm>
          <a:prstGeom prst="ellipse">
            <a:avLst/>
          </a:prstGeom>
          <a:solidFill>
            <a:srgbClr val="1565C0"/>
          </a:solidFill>
        </p:spPr>
      </p:sp>
      <p:sp>
        <p:nvSpPr>
          <p:cNvPr id="39" name="Text 37"/>
          <p:cNvSpPr/>
          <p:nvPr/>
        </p:nvSpPr>
        <p:spPr>
          <a:xfrm>
            <a:off x="6461760" y="3998976"/>
            <a:ext cx="42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465" dirty="0"/>
          </a:p>
        </p:txBody>
      </p:sp>
      <p:sp>
        <p:nvSpPr>
          <p:cNvPr id="40" name="Text 38"/>
          <p:cNvSpPr/>
          <p:nvPr/>
        </p:nvSpPr>
        <p:spPr>
          <a:xfrm>
            <a:off x="7010400" y="3974592"/>
            <a:ext cx="2438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差异核对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644640" y="4401312"/>
            <a:ext cx="60960" cy="207264"/>
          </a:xfrm>
          <a:prstGeom prst="rect">
            <a:avLst/>
          </a:prstGeom>
          <a:solidFill>
            <a:srgbClr val="757575"/>
          </a:solidFill>
        </p:spPr>
      </p:sp>
      <p:sp>
        <p:nvSpPr>
          <p:cNvPr id="42" name="Shape 40"/>
          <p:cNvSpPr/>
          <p:nvPr/>
        </p:nvSpPr>
        <p:spPr>
          <a:xfrm>
            <a:off x="6461760" y="4608576"/>
            <a:ext cx="426720" cy="426720"/>
          </a:xfrm>
          <a:prstGeom prst="ellipse">
            <a:avLst/>
          </a:prstGeom>
          <a:solidFill>
            <a:srgbClr val="1565C0"/>
          </a:solidFill>
        </p:spPr>
      </p:sp>
      <p:sp>
        <p:nvSpPr>
          <p:cNvPr id="43" name="Text 41"/>
          <p:cNvSpPr/>
          <p:nvPr/>
        </p:nvSpPr>
        <p:spPr>
          <a:xfrm>
            <a:off x="6461760" y="4632960"/>
            <a:ext cx="42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</a:t>
            </a:r>
            <a:endParaRPr lang="en-US" sz="1465" dirty="0"/>
          </a:p>
        </p:txBody>
      </p:sp>
      <p:sp>
        <p:nvSpPr>
          <p:cNvPr id="44" name="Text 42"/>
          <p:cNvSpPr/>
          <p:nvPr/>
        </p:nvSpPr>
        <p:spPr>
          <a:xfrm>
            <a:off x="7010400" y="4608576"/>
            <a:ext cx="2438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账务调整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644640" y="5035296"/>
            <a:ext cx="60960" cy="207264"/>
          </a:xfrm>
          <a:prstGeom prst="rect">
            <a:avLst/>
          </a:prstGeom>
          <a:solidFill>
            <a:srgbClr val="757575"/>
          </a:solidFill>
        </p:spPr>
      </p:sp>
      <p:sp>
        <p:nvSpPr>
          <p:cNvPr id="46" name="Shape 44"/>
          <p:cNvSpPr/>
          <p:nvPr/>
        </p:nvSpPr>
        <p:spPr>
          <a:xfrm>
            <a:off x="6461760" y="5242560"/>
            <a:ext cx="426720" cy="426720"/>
          </a:xfrm>
          <a:prstGeom prst="ellipse">
            <a:avLst/>
          </a:prstGeom>
          <a:solidFill>
            <a:srgbClr val="1565C0"/>
          </a:solidFill>
        </p:spPr>
      </p:sp>
      <p:sp>
        <p:nvSpPr>
          <p:cNvPr id="47" name="Text 45"/>
          <p:cNvSpPr/>
          <p:nvPr/>
        </p:nvSpPr>
        <p:spPr>
          <a:xfrm>
            <a:off x="6461760" y="5266944"/>
            <a:ext cx="42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</a:t>
            </a:r>
            <a:endParaRPr lang="en-US" sz="1465" dirty="0"/>
          </a:p>
        </p:txBody>
      </p:sp>
      <p:sp>
        <p:nvSpPr>
          <p:cNvPr id="48" name="Text 46"/>
          <p:cNvSpPr/>
          <p:nvPr/>
        </p:nvSpPr>
        <p:spPr>
          <a:xfrm>
            <a:off x="7010400" y="5242560"/>
            <a:ext cx="2438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分析报告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644640" y="5669280"/>
            <a:ext cx="60960" cy="207264"/>
          </a:xfrm>
          <a:prstGeom prst="rect">
            <a:avLst/>
          </a:prstGeom>
          <a:solidFill>
            <a:srgbClr val="757575"/>
          </a:solidFill>
        </p:spPr>
      </p:sp>
      <p:sp>
        <p:nvSpPr>
          <p:cNvPr id="50" name="Shape 48"/>
          <p:cNvSpPr/>
          <p:nvPr/>
        </p:nvSpPr>
        <p:spPr>
          <a:xfrm>
            <a:off x="6461760" y="5876544"/>
            <a:ext cx="426720" cy="426720"/>
          </a:xfrm>
          <a:prstGeom prst="ellipse">
            <a:avLst/>
          </a:prstGeom>
          <a:solidFill>
            <a:srgbClr val="1565C0"/>
          </a:solidFill>
        </p:spPr>
      </p:sp>
      <p:sp>
        <p:nvSpPr>
          <p:cNvPr id="51" name="Text 49"/>
          <p:cNvSpPr/>
          <p:nvPr/>
        </p:nvSpPr>
        <p:spPr>
          <a:xfrm>
            <a:off x="6461760" y="5900928"/>
            <a:ext cx="42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</a:t>
            </a:r>
            <a:endParaRPr lang="en-US" sz="1465" dirty="0"/>
          </a:p>
        </p:txBody>
      </p:sp>
      <p:sp>
        <p:nvSpPr>
          <p:cNvPr id="52" name="Text 50"/>
          <p:cNvSpPr/>
          <p:nvPr/>
        </p:nvSpPr>
        <p:spPr>
          <a:xfrm>
            <a:off x="7010400" y="5876544"/>
            <a:ext cx="2438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改进措施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609600" y="2438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盘点方法详解（一）：四大盘点方式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26720" y="1341120"/>
            <a:ext cx="5608320" cy="243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6720" y="1341120"/>
            <a:ext cx="97536" cy="2438400"/>
          </a:xfrm>
          <a:prstGeom prst="rect">
            <a:avLst/>
          </a:prstGeom>
          <a:solidFill>
            <a:srgbClr val="1976D2"/>
          </a:solidFill>
        </p:spPr>
      </p:sp>
      <p:sp>
        <p:nvSpPr>
          <p:cNvPr id="6" name="Text 4"/>
          <p:cNvSpPr/>
          <p:nvPr/>
        </p:nvSpPr>
        <p:spPr>
          <a:xfrm>
            <a:off x="609600" y="1438656"/>
            <a:ext cx="52425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5" b="1" dirty="0">
                <a:solidFill>
                  <a:srgbClr val="1976D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📋 ① 全面盘点</a:t>
            </a:r>
            <a:endParaRPr lang="en-US" sz="1735" dirty="0"/>
          </a:p>
        </p:txBody>
      </p:sp>
      <p:sp>
        <p:nvSpPr>
          <p:cNvPr id="7" name="Text 5"/>
          <p:cNvSpPr/>
          <p:nvPr/>
        </p:nvSpPr>
        <p:spPr>
          <a:xfrm>
            <a:off x="609600" y="1853184"/>
            <a:ext cx="524256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对仓库所有物料进行100%清点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194560"/>
            <a:ext cx="52425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✓ 准确率最高  ✓ 全面掌握库存状态  ✓ 符合审计要求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2621280"/>
            <a:ext cx="52425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282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✗ 耗时最长  ✗ 人力投入大  ✗ 影响正常作业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3169920"/>
            <a:ext cx="5242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📌 频率: 每季度/每半年</a:t>
            </a:r>
            <a:endParaRPr lang="en-US" sz="1335" dirty="0"/>
          </a:p>
        </p:txBody>
      </p:sp>
      <p:sp>
        <p:nvSpPr>
          <p:cNvPr id="11" name="Shape 9"/>
          <p:cNvSpPr/>
          <p:nvPr/>
        </p:nvSpPr>
        <p:spPr>
          <a:xfrm>
            <a:off x="6217920" y="1341120"/>
            <a:ext cx="5608320" cy="243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341120"/>
            <a:ext cx="97536" cy="243840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13" name="Text 11"/>
          <p:cNvSpPr/>
          <p:nvPr/>
        </p:nvSpPr>
        <p:spPr>
          <a:xfrm>
            <a:off x="6400800" y="1438656"/>
            <a:ext cx="52425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5" b="1" dirty="0">
                <a:solidFill>
                  <a:srgbClr val="00897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🔄 ② 循环盘点</a:t>
            </a:r>
            <a:endParaRPr lang="en-US" sz="1735" dirty="0"/>
          </a:p>
        </p:txBody>
      </p:sp>
      <p:sp>
        <p:nvSpPr>
          <p:cNvPr id="14" name="Text 12"/>
          <p:cNvSpPr/>
          <p:nvPr/>
        </p:nvSpPr>
        <p:spPr>
          <a:xfrm>
            <a:off x="6400800" y="1853184"/>
            <a:ext cx="524256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按ABC分类优先级，每天盘点一部分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194560"/>
            <a:ext cx="52425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✓ 日常化、持续性  ✓ 不影响正常作业  ✓ 资源合理分配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2621280"/>
            <a:ext cx="52425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282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✗ 需分类准确  ✗ 计划执行严格  ✗ 长期坚持不易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3169920"/>
            <a:ext cx="5242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📌 频率: 每日/每周滚动</a:t>
            </a:r>
            <a:endParaRPr lang="en-US" sz="1335" dirty="0"/>
          </a:p>
        </p:txBody>
      </p:sp>
      <p:sp>
        <p:nvSpPr>
          <p:cNvPr id="18" name="Shape 16"/>
          <p:cNvSpPr/>
          <p:nvPr/>
        </p:nvSpPr>
        <p:spPr>
          <a:xfrm>
            <a:off x="426720" y="3962400"/>
            <a:ext cx="5608320" cy="243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6720" y="3962400"/>
            <a:ext cx="97536" cy="2438400"/>
          </a:xfrm>
          <a:prstGeom prst="rect">
            <a:avLst/>
          </a:prstGeom>
          <a:solidFill>
            <a:srgbClr val="7B1FA2"/>
          </a:solidFill>
        </p:spPr>
      </p:sp>
      <p:sp>
        <p:nvSpPr>
          <p:cNvPr id="20" name="Text 18"/>
          <p:cNvSpPr/>
          <p:nvPr/>
        </p:nvSpPr>
        <p:spPr>
          <a:xfrm>
            <a:off x="609600" y="4059936"/>
            <a:ext cx="52425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5" b="1" dirty="0">
                <a:solidFill>
                  <a:srgbClr val="7B1FA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🎯 ③ 重点盘点（</a:t>
            </a:r>
            <a:r>
              <a:rPr lang="zh-CN" altLang="en-US" sz="1735" b="1" dirty="0">
                <a:solidFill>
                  <a:srgbClr val="7B1FA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抽盘</a:t>
            </a:r>
            <a:r>
              <a:rPr lang="en-US" sz="1735" b="1" dirty="0">
                <a:solidFill>
                  <a:srgbClr val="7B1FA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）</a:t>
            </a:r>
            <a:endParaRPr lang="en-US" sz="1735" dirty="0"/>
          </a:p>
        </p:txBody>
      </p:sp>
      <p:sp>
        <p:nvSpPr>
          <p:cNvPr id="21" name="Text 19"/>
          <p:cNvSpPr/>
          <p:nvPr/>
        </p:nvSpPr>
        <p:spPr>
          <a:xfrm>
            <a:off x="609600" y="4474464"/>
            <a:ext cx="524256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针对高价值、易出错、重点区域重点盘点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9600" y="4815840"/>
            <a:ext cx="52425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✓ 效率高  ✓ 针对性强  ✓ 成本低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9600" y="5242560"/>
            <a:ext cx="52425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282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✗ 覆盖不全面  ✗ 存在盲区风险  ✗ 需判断准确性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9600" y="5791200"/>
            <a:ext cx="5242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📌 频率: 每月/按需</a:t>
            </a:r>
            <a:endParaRPr lang="en-US" sz="1335" dirty="0"/>
          </a:p>
        </p:txBody>
      </p:sp>
      <p:sp>
        <p:nvSpPr>
          <p:cNvPr id="25" name="Shape 23"/>
          <p:cNvSpPr/>
          <p:nvPr/>
        </p:nvSpPr>
        <p:spPr>
          <a:xfrm>
            <a:off x="6217920" y="3962400"/>
            <a:ext cx="5608320" cy="243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3962400"/>
            <a:ext cx="97536" cy="2438400"/>
          </a:xfrm>
          <a:prstGeom prst="rect">
            <a:avLst/>
          </a:prstGeom>
          <a:solidFill>
            <a:srgbClr val="E65100"/>
          </a:solidFill>
        </p:spPr>
      </p:sp>
      <p:sp>
        <p:nvSpPr>
          <p:cNvPr id="27" name="Text 25"/>
          <p:cNvSpPr/>
          <p:nvPr/>
        </p:nvSpPr>
        <p:spPr>
          <a:xfrm>
            <a:off x="6400800" y="4059936"/>
            <a:ext cx="52425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5" b="1" dirty="0">
                <a:solidFill>
                  <a:srgbClr val="E651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📅 ④ 期末盘点</a:t>
            </a:r>
            <a:endParaRPr lang="en-US" sz="1735" dirty="0"/>
          </a:p>
        </p:txBody>
      </p:sp>
      <p:sp>
        <p:nvSpPr>
          <p:cNvPr id="28" name="Text 26"/>
          <p:cNvSpPr/>
          <p:nvPr/>
        </p:nvSpPr>
        <p:spPr>
          <a:xfrm>
            <a:off x="6400800" y="4474464"/>
            <a:ext cx="524256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期末统一盘点，验证账实相符情况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4815840"/>
            <a:ext cx="52425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✓ 配合财务审计  ✓ 统一组织管理  ✓ 便于对比分析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5242560"/>
            <a:ext cx="52425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282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✗ 时间集中  ✗ 突击性加班  ✗ 准确率依赖经验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5791200"/>
            <a:ext cx="5242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📌 频率: 月末/年末</a:t>
            </a:r>
            <a:endParaRPr lang="en-US" sz="133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609600" y="2438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盘点方法详解（二）：技术辅助盘点方式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26720" y="1341120"/>
            <a:ext cx="1133856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6720" y="1341120"/>
            <a:ext cx="731520" cy="1219200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6" name="Text 4"/>
          <p:cNvSpPr/>
          <p:nvPr/>
        </p:nvSpPr>
        <p:spPr>
          <a:xfrm>
            <a:off x="426720" y="1524000"/>
            <a:ext cx="73152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935" dirty="0">
                <a:solidFill>
                  <a:srgbClr val="000000"/>
                </a:solidFill>
              </a:rPr>
              <a:t>📱</a:t>
            </a:r>
            <a:endParaRPr lang="en-US" sz="2935" dirty="0"/>
          </a:p>
        </p:txBody>
      </p:sp>
      <p:sp>
        <p:nvSpPr>
          <p:cNvPr id="7" name="Text 5"/>
          <p:cNvSpPr/>
          <p:nvPr/>
        </p:nvSpPr>
        <p:spPr>
          <a:xfrm>
            <a:off x="1280160" y="1463040"/>
            <a:ext cx="30480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RF枪扫码盘点</a:t>
            </a:r>
            <a:endParaRPr lang="en-US" sz="1735" dirty="0"/>
          </a:p>
        </p:txBody>
      </p:sp>
      <p:sp>
        <p:nvSpPr>
          <p:cNvPr id="8" name="Text 6"/>
          <p:cNvSpPr/>
          <p:nvPr/>
        </p:nvSpPr>
        <p:spPr>
          <a:xfrm>
            <a:off x="1280160" y="1889760"/>
            <a:ext cx="6096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5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通过手持终端扫描条码/RFID标签，系统自动比对账面数据，生成差异报表</a:t>
            </a:r>
            <a:endParaRPr lang="en-US" sz="1265" dirty="0"/>
          </a:p>
        </p:txBody>
      </p:sp>
      <p:sp>
        <p:nvSpPr>
          <p:cNvPr id="9" name="Shape 7"/>
          <p:cNvSpPr/>
          <p:nvPr/>
        </p:nvSpPr>
        <p:spPr>
          <a:xfrm>
            <a:off x="7559040" y="1463040"/>
            <a:ext cx="36576" cy="97536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0" name="Text 8"/>
          <p:cNvSpPr/>
          <p:nvPr/>
        </p:nvSpPr>
        <p:spPr>
          <a:xfrm>
            <a:off x="7741920" y="1524000"/>
            <a:ext cx="390144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5" dirty="0">
                <a:solidFill>
                  <a:srgbClr val="2E7D3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效果：效率提升50-70%，错误率&lt;0.5%</a:t>
            </a:r>
            <a:endParaRPr lang="en-US" sz="1265" dirty="0"/>
          </a:p>
        </p:txBody>
      </p:sp>
      <p:sp>
        <p:nvSpPr>
          <p:cNvPr id="11" name="Text 9"/>
          <p:cNvSpPr/>
          <p:nvPr/>
        </p:nvSpPr>
        <p:spPr>
          <a:xfrm>
            <a:off x="7741920" y="1950720"/>
            <a:ext cx="390144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适用：条码覆盖率&gt;80%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6720" y="2682240"/>
            <a:ext cx="1133856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6720" y="2682240"/>
            <a:ext cx="731520" cy="1219200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14" name="Text 12"/>
          <p:cNvSpPr/>
          <p:nvPr/>
        </p:nvSpPr>
        <p:spPr>
          <a:xfrm>
            <a:off x="426720" y="2865120"/>
            <a:ext cx="73152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935" dirty="0">
                <a:solidFill>
                  <a:srgbClr val="000000"/>
                </a:solidFill>
              </a:rPr>
              <a:t>🖥️</a:t>
            </a:r>
            <a:endParaRPr lang="en-US" sz="2935" dirty="0"/>
          </a:p>
        </p:txBody>
      </p:sp>
      <p:sp>
        <p:nvSpPr>
          <p:cNvPr id="15" name="Text 13"/>
          <p:cNvSpPr/>
          <p:nvPr/>
        </p:nvSpPr>
        <p:spPr>
          <a:xfrm>
            <a:off x="1280160" y="2804160"/>
            <a:ext cx="30480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WMS系统盘点模块</a:t>
            </a:r>
            <a:endParaRPr lang="en-US" sz="1735" dirty="0"/>
          </a:p>
        </p:txBody>
      </p:sp>
      <p:sp>
        <p:nvSpPr>
          <p:cNvPr id="16" name="Text 14"/>
          <p:cNvSpPr/>
          <p:nvPr/>
        </p:nvSpPr>
        <p:spPr>
          <a:xfrm>
            <a:off x="1280160" y="3230880"/>
            <a:ext cx="6096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5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利用WMS库存快照功能，按库位/物料批量导出盘点清单，支持PDA实时录入</a:t>
            </a:r>
            <a:endParaRPr lang="en-US" sz="1265" dirty="0"/>
          </a:p>
        </p:txBody>
      </p:sp>
      <p:sp>
        <p:nvSpPr>
          <p:cNvPr id="17" name="Shape 15"/>
          <p:cNvSpPr/>
          <p:nvPr/>
        </p:nvSpPr>
        <p:spPr>
          <a:xfrm>
            <a:off x="7559040" y="2804160"/>
            <a:ext cx="36576" cy="97536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8" name="Text 16"/>
          <p:cNvSpPr/>
          <p:nvPr/>
        </p:nvSpPr>
        <p:spPr>
          <a:xfrm>
            <a:off x="7741920" y="2865120"/>
            <a:ext cx="390144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5" dirty="0">
                <a:solidFill>
                  <a:srgbClr val="2E7D3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效果：账实同步率&gt;98%，周期缩短60%</a:t>
            </a:r>
            <a:endParaRPr lang="en-US" sz="1265" dirty="0"/>
          </a:p>
        </p:txBody>
      </p:sp>
      <p:sp>
        <p:nvSpPr>
          <p:cNvPr id="19" name="Text 17"/>
          <p:cNvSpPr/>
          <p:nvPr/>
        </p:nvSpPr>
        <p:spPr>
          <a:xfrm>
            <a:off x="7741920" y="3291840"/>
            <a:ext cx="390144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适用：已上线WMS，库位编码完善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6720" y="4023360"/>
            <a:ext cx="1133856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6720" y="4023360"/>
            <a:ext cx="731520" cy="1219200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22" name="Text 20"/>
          <p:cNvSpPr/>
          <p:nvPr/>
        </p:nvSpPr>
        <p:spPr>
          <a:xfrm>
            <a:off x="426720" y="4206240"/>
            <a:ext cx="73152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935" dirty="0">
                <a:solidFill>
                  <a:srgbClr val="000000"/>
                </a:solidFill>
              </a:rPr>
              <a:t>🚁</a:t>
            </a:r>
            <a:endParaRPr lang="en-US" sz="2935" dirty="0"/>
          </a:p>
        </p:txBody>
      </p:sp>
      <p:sp>
        <p:nvSpPr>
          <p:cNvPr id="23" name="Text 21"/>
          <p:cNvSpPr/>
          <p:nvPr/>
        </p:nvSpPr>
        <p:spPr>
          <a:xfrm>
            <a:off x="1280160" y="4145280"/>
            <a:ext cx="30480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无人机/AGV盘点</a:t>
            </a:r>
            <a:endParaRPr lang="en-US" sz="1735" dirty="0"/>
          </a:p>
        </p:txBody>
      </p:sp>
      <p:sp>
        <p:nvSpPr>
          <p:cNvPr id="24" name="Text 22"/>
          <p:cNvSpPr/>
          <p:nvPr/>
        </p:nvSpPr>
        <p:spPr>
          <a:xfrm>
            <a:off x="1280160" y="4572000"/>
            <a:ext cx="6096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5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无人机搭载视觉识别自动巡检货架；AGV配合RFID阅读器自动盘点</a:t>
            </a:r>
            <a:endParaRPr lang="en-US" sz="1265" dirty="0"/>
          </a:p>
        </p:txBody>
      </p:sp>
      <p:sp>
        <p:nvSpPr>
          <p:cNvPr id="25" name="Shape 23"/>
          <p:cNvSpPr/>
          <p:nvPr/>
        </p:nvSpPr>
        <p:spPr>
          <a:xfrm>
            <a:off x="7559040" y="4145280"/>
            <a:ext cx="36576" cy="97536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6" name="Text 24"/>
          <p:cNvSpPr/>
          <p:nvPr/>
        </p:nvSpPr>
        <p:spPr>
          <a:xfrm>
            <a:off x="7741920" y="4206240"/>
            <a:ext cx="390144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5" dirty="0">
                <a:solidFill>
                  <a:srgbClr val="2E7D3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效果：适应高大货架，夜间自动作业</a:t>
            </a:r>
            <a:endParaRPr lang="en-US" sz="1265" dirty="0"/>
          </a:p>
        </p:txBody>
      </p:sp>
      <p:sp>
        <p:nvSpPr>
          <p:cNvPr id="27" name="Text 25"/>
          <p:cNvSpPr/>
          <p:nvPr/>
        </p:nvSpPr>
        <p:spPr>
          <a:xfrm>
            <a:off x="7741920" y="4632960"/>
            <a:ext cx="390144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适用：立体仓库、危险品仓库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6720" y="5364480"/>
            <a:ext cx="1133856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6720" y="5364480"/>
            <a:ext cx="731520" cy="1219200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30" name="Text 28"/>
          <p:cNvSpPr/>
          <p:nvPr/>
        </p:nvSpPr>
        <p:spPr>
          <a:xfrm>
            <a:off x="426720" y="5547360"/>
            <a:ext cx="73152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935" dirty="0">
                <a:solidFill>
                  <a:srgbClr val="000000"/>
                </a:solidFill>
              </a:rPr>
              <a:t>📸</a:t>
            </a:r>
            <a:endParaRPr lang="en-US" sz="2935" dirty="0"/>
          </a:p>
        </p:txBody>
      </p:sp>
      <p:sp>
        <p:nvSpPr>
          <p:cNvPr id="31" name="Text 29"/>
          <p:cNvSpPr/>
          <p:nvPr/>
        </p:nvSpPr>
        <p:spPr>
          <a:xfrm>
            <a:off x="1280160" y="5486400"/>
            <a:ext cx="30480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视觉识别盘点</a:t>
            </a:r>
            <a:endParaRPr lang="en-US" sz="1735" dirty="0"/>
          </a:p>
        </p:txBody>
      </p:sp>
      <p:sp>
        <p:nvSpPr>
          <p:cNvPr id="32" name="Text 30"/>
          <p:cNvSpPr/>
          <p:nvPr/>
        </p:nvSpPr>
        <p:spPr>
          <a:xfrm>
            <a:off x="1280160" y="5913120"/>
            <a:ext cx="6096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5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通过摄像头+AI图像识别技术，自动识别货架物料数量和状态</a:t>
            </a:r>
            <a:endParaRPr lang="en-US" sz="1265" dirty="0"/>
          </a:p>
        </p:txBody>
      </p:sp>
      <p:sp>
        <p:nvSpPr>
          <p:cNvPr id="33" name="Shape 31"/>
          <p:cNvSpPr/>
          <p:nvPr/>
        </p:nvSpPr>
        <p:spPr>
          <a:xfrm>
            <a:off x="7559040" y="5486400"/>
            <a:ext cx="36576" cy="97536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4" name="Text 32"/>
          <p:cNvSpPr/>
          <p:nvPr/>
        </p:nvSpPr>
        <p:spPr>
          <a:xfrm>
            <a:off x="7741920" y="5547360"/>
            <a:ext cx="390144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5" dirty="0">
                <a:solidFill>
                  <a:srgbClr val="2E7D3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效果：24小时监控，减少人工依赖</a:t>
            </a:r>
            <a:endParaRPr lang="en-US" sz="1265" dirty="0"/>
          </a:p>
        </p:txBody>
      </p:sp>
      <p:sp>
        <p:nvSpPr>
          <p:cNvPr id="35" name="Text 33"/>
          <p:cNvSpPr/>
          <p:nvPr/>
        </p:nvSpPr>
        <p:spPr>
          <a:xfrm>
            <a:off x="7741920" y="5974080"/>
            <a:ext cx="390144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适用：标准化货架、视觉条件可控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43840"/>
            <a:ext cx="11460480" cy="670560"/>
          </a:xfrm>
          <a:prstGeom prst="rect">
            <a:avLst/>
          </a:prstGeom>
          <a:solidFill>
            <a:srgbClr val="1E3A5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87680" y="304800"/>
            <a:ext cx="11216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📋 不同堆码方式的盘点与点数方法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975360"/>
            <a:ext cx="1146048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dirty="0">
                <a:solidFill>
                  <a:srgbClr val="64748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根据堆码方式选择合适的盘点方法，可提升盘点效率30%~50%，减少人为错误</a:t>
            </a:r>
            <a:endParaRPr lang="en-US" sz="1465" dirty="0"/>
          </a:p>
        </p:txBody>
      </p:sp>
      <p:sp>
        <p:nvSpPr>
          <p:cNvPr id="5" name="Shape 3"/>
          <p:cNvSpPr/>
          <p:nvPr/>
        </p:nvSpPr>
        <p:spPr>
          <a:xfrm>
            <a:off x="365760" y="1402080"/>
            <a:ext cx="5608320" cy="426720"/>
          </a:xfrm>
          <a:prstGeom prst="rect">
            <a:avLst/>
          </a:prstGeom>
          <a:solidFill>
            <a:srgbClr val="2E5A8B"/>
          </a:solidFill>
        </p:spPr>
      </p:sp>
      <p:sp>
        <p:nvSpPr>
          <p:cNvPr id="6" name="Text 4"/>
          <p:cNvSpPr/>
          <p:nvPr/>
        </p:nvSpPr>
        <p:spPr>
          <a:xfrm>
            <a:off x="487680" y="1463040"/>
            <a:ext cx="536448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🔍 四种盘点方法</a:t>
            </a:r>
            <a:endParaRPr lang="en-US" sz="1735" dirty="0"/>
          </a:p>
        </p:txBody>
      </p:sp>
      <p:sp>
        <p:nvSpPr>
          <p:cNvPr id="7" name="Shape 5"/>
          <p:cNvSpPr/>
          <p:nvPr/>
        </p:nvSpPr>
        <p:spPr>
          <a:xfrm>
            <a:off x="365760" y="1950720"/>
            <a:ext cx="56083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50720"/>
            <a:ext cx="97536" cy="585216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9" name="Text 7"/>
          <p:cNvSpPr/>
          <p:nvPr/>
        </p:nvSpPr>
        <p:spPr>
          <a:xfrm>
            <a:off x="548640" y="1999488"/>
            <a:ext cx="14630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dirty="0">
                <a:solidFill>
                  <a:srgbClr val="EF444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📦 全面盘点</a:t>
            </a:r>
            <a:endParaRPr lang="en-US" sz="1465" dirty="0"/>
          </a:p>
        </p:txBody>
      </p:sp>
      <p:sp>
        <p:nvSpPr>
          <p:cNvPr id="10" name="Text 8"/>
          <p:cNvSpPr/>
          <p:nvPr/>
        </p:nvSpPr>
        <p:spPr>
          <a:xfrm>
            <a:off x="2072640" y="1999488"/>
            <a:ext cx="182880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所有货位逐一清点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267712"/>
            <a:ext cx="2438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10B98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最适合: 重叠式、五五堆码</a:t>
            </a:r>
            <a:endParaRPr lang="en-US" sz="1065" dirty="0"/>
          </a:p>
        </p:txBody>
      </p:sp>
      <p:sp>
        <p:nvSpPr>
          <p:cNvPr id="12" name="Text 10"/>
          <p:cNvSpPr/>
          <p:nvPr/>
        </p:nvSpPr>
        <p:spPr>
          <a:xfrm>
            <a:off x="3169920" y="2267712"/>
            <a:ext cx="2682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5" dirty="0">
                <a:solidFill>
                  <a:srgbClr val="64748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💡 每月/季度末停库全盘</a:t>
            </a:r>
            <a:endParaRPr lang="en-US" sz="935" dirty="0"/>
          </a:p>
        </p:txBody>
      </p:sp>
      <p:sp>
        <p:nvSpPr>
          <p:cNvPr id="13" name="Shape 11"/>
          <p:cNvSpPr/>
          <p:nvPr/>
        </p:nvSpPr>
        <p:spPr>
          <a:xfrm>
            <a:off x="365760" y="2584704"/>
            <a:ext cx="56083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84704"/>
            <a:ext cx="97536" cy="58521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5" name="Text 13"/>
          <p:cNvSpPr/>
          <p:nvPr/>
        </p:nvSpPr>
        <p:spPr>
          <a:xfrm>
            <a:off x="548640" y="2633472"/>
            <a:ext cx="14630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dirty="0">
                <a:solidFill>
                  <a:srgbClr val="F59E0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📅 周期盘点</a:t>
            </a:r>
            <a:endParaRPr lang="en-US" sz="1465" dirty="0"/>
          </a:p>
        </p:txBody>
      </p:sp>
      <p:sp>
        <p:nvSpPr>
          <p:cNvPr id="16" name="Text 14"/>
          <p:cNvSpPr/>
          <p:nvPr/>
        </p:nvSpPr>
        <p:spPr>
          <a:xfrm>
            <a:off x="2072640" y="2633472"/>
            <a:ext cx="182880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按区域分批定期盘点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901696"/>
            <a:ext cx="2438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10B98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最适合: 纵横交错、正反交错</a:t>
            </a:r>
            <a:endParaRPr lang="en-US" sz="1065" dirty="0"/>
          </a:p>
        </p:txBody>
      </p:sp>
      <p:sp>
        <p:nvSpPr>
          <p:cNvPr id="18" name="Text 16"/>
          <p:cNvSpPr/>
          <p:nvPr/>
        </p:nvSpPr>
        <p:spPr>
          <a:xfrm>
            <a:off x="3169920" y="2901696"/>
            <a:ext cx="2682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5" dirty="0">
                <a:solidFill>
                  <a:srgbClr val="64748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💡 分区轮换，每周/双周</a:t>
            </a:r>
            <a:endParaRPr lang="en-US" sz="935" dirty="0"/>
          </a:p>
        </p:txBody>
      </p:sp>
      <p:sp>
        <p:nvSpPr>
          <p:cNvPr id="19" name="Shape 17"/>
          <p:cNvSpPr/>
          <p:nvPr/>
        </p:nvSpPr>
        <p:spPr>
          <a:xfrm>
            <a:off x="365760" y="3218688"/>
            <a:ext cx="56083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18688"/>
            <a:ext cx="97536" cy="585216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1" name="Text 19"/>
          <p:cNvSpPr/>
          <p:nvPr/>
        </p:nvSpPr>
        <p:spPr>
          <a:xfrm>
            <a:off x="548640" y="3267456"/>
            <a:ext cx="14630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dirty="0">
                <a:solidFill>
                  <a:srgbClr val="3B82F6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🎯 抽样盘点</a:t>
            </a:r>
            <a:endParaRPr lang="en-US" sz="1465" dirty="0"/>
          </a:p>
        </p:txBody>
      </p:sp>
      <p:sp>
        <p:nvSpPr>
          <p:cNvPr id="22" name="Text 20"/>
          <p:cNvSpPr/>
          <p:nvPr/>
        </p:nvSpPr>
        <p:spPr>
          <a:xfrm>
            <a:off x="2072640" y="3267456"/>
            <a:ext cx="182880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随机抽查部分货物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535680"/>
            <a:ext cx="2438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10B98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最适合: 通风式、托盘堆码</a:t>
            </a:r>
            <a:endParaRPr lang="en-US" sz="1065" dirty="0"/>
          </a:p>
        </p:txBody>
      </p:sp>
      <p:sp>
        <p:nvSpPr>
          <p:cNvPr id="24" name="Text 22"/>
          <p:cNvSpPr/>
          <p:nvPr/>
        </p:nvSpPr>
        <p:spPr>
          <a:xfrm>
            <a:off x="3169920" y="3535680"/>
            <a:ext cx="2682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5" dirty="0">
                <a:solidFill>
                  <a:srgbClr val="64748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💡 随机抽检10%~20%</a:t>
            </a:r>
            <a:endParaRPr lang="en-US" sz="935" dirty="0"/>
          </a:p>
        </p:txBody>
      </p:sp>
      <p:sp>
        <p:nvSpPr>
          <p:cNvPr id="25" name="Shape 23"/>
          <p:cNvSpPr/>
          <p:nvPr/>
        </p:nvSpPr>
        <p:spPr>
          <a:xfrm>
            <a:off x="365760" y="3852672"/>
            <a:ext cx="56083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852672"/>
            <a:ext cx="97536" cy="585216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7" name="Text 25"/>
          <p:cNvSpPr/>
          <p:nvPr/>
        </p:nvSpPr>
        <p:spPr>
          <a:xfrm>
            <a:off x="548640" y="3901440"/>
            <a:ext cx="14630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dirty="0">
                <a:solidFill>
                  <a:srgbClr val="10B98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🔄 循环盘点</a:t>
            </a:r>
            <a:endParaRPr lang="en-US" sz="1465" dirty="0"/>
          </a:p>
        </p:txBody>
      </p:sp>
      <p:sp>
        <p:nvSpPr>
          <p:cNvPr id="28" name="Text 26"/>
          <p:cNvSpPr/>
          <p:nvPr/>
        </p:nvSpPr>
        <p:spPr>
          <a:xfrm>
            <a:off x="2072640" y="3901440"/>
            <a:ext cx="182880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每日滚动轮流盘点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4169664"/>
            <a:ext cx="2438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10B98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最适合: 所有堆码方式</a:t>
            </a:r>
            <a:endParaRPr lang="en-US" sz="1065" dirty="0"/>
          </a:p>
        </p:txBody>
      </p:sp>
      <p:sp>
        <p:nvSpPr>
          <p:cNvPr id="30" name="Text 28"/>
          <p:cNvSpPr/>
          <p:nvPr/>
        </p:nvSpPr>
        <p:spPr>
          <a:xfrm>
            <a:off x="3169920" y="4169664"/>
            <a:ext cx="2682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5" dirty="0">
                <a:solidFill>
                  <a:srgbClr val="64748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💡 每天盘1~2个区域</a:t>
            </a:r>
            <a:endParaRPr lang="en-US" sz="935" dirty="0"/>
          </a:p>
        </p:txBody>
      </p:sp>
      <p:sp>
        <p:nvSpPr>
          <p:cNvPr id="31" name="Shape 29"/>
          <p:cNvSpPr/>
          <p:nvPr/>
        </p:nvSpPr>
        <p:spPr>
          <a:xfrm>
            <a:off x="6096000" y="1402080"/>
            <a:ext cx="5730240" cy="42672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2" name="Text 30"/>
          <p:cNvSpPr/>
          <p:nvPr/>
        </p:nvSpPr>
        <p:spPr>
          <a:xfrm>
            <a:off x="6217920" y="1463040"/>
            <a:ext cx="5486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📌 各堆码方式盘点技巧</a:t>
            </a:r>
            <a:endParaRPr lang="en-US" sz="1735" dirty="0"/>
          </a:p>
        </p:txBody>
      </p:sp>
      <p:sp>
        <p:nvSpPr>
          <p:cNvPr id="33" name="Shape 31"/>
          <p:cNvSpPr/>
          <p:nvPr/>
        </p:nvSpPr>
        <p:spPr>
          <a:xfrm>
            <a:off x="6096000" y="1914144"/>
            <a:ext cx="5730240" cy="426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96000" y="1914144"/>
            <a:ext cx="73152" cy="4267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5" name="Text 33"/>
          <p:cNvSpPr/>
          <p:nvPr/>
        </p:nvSpPr>
        <p:spPr>
          <a:xfrm>
            <a:off x="6217920" y="1938528"/>
            <a:ext cx="1219200" cy="195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3B82F6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📚 重叠式</a:t>
            </a:r>
            <a:endParaRPr lang="en-US" sz="1335" dirty="0"/>
          </a:p>
        </p:txBody>
      </p:sp>
      <p:sp>
        <p:nvSpPr>
          <p:cNvPr id="36" name="Text 34"/>
          <p:cNvSpPr/>
          <p:nvPr/>
        </p:nvSpPr>
        <p:spPr>
          <a:xfrm>
            <a:off x="7437120" y="1938528"/>
            <a:ext cx="2926080" cy="195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点数: 逐层点数 → 每层数量×层数</a:t>
            </a:r>
            <a:endParaRPr lang="en-US" sz="1065" dirty="0"/>
          </a:p>
        </p:txBody>
      </p:sp>
      <p:sp>
        <p:nvSpPr>
          <p:cNvPr id="37" name="Text 35"/>
          <p:cNvSpPr/>
          <p:nvPr/>
        </p:nvSpPr>
        <p:spPr>
          <a:xfrm>
            <a:off x="6217920" y="2133600"/>
            <a:ext cx="3413760" cy="170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5" dirty="0">
                <a:solidFill>
                  <a:srgbClr val="F59E0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⚠️ 检查是否歪斜，记录层高</a:t>
            </a:r>
            <a:endParaRPr lang="en-US" sz="935" dirty="0"/>
          </a:p>
        </p:txBody>
      </p:sp>
      <p:sp>
        <p:nvSpPr>
          <p:cNvPr id="38" name="Text 36"/>
          <p:cNvSpPr/>
          <p:nvPr/>
        </p:nvSpPr>
        <p:spPr>
          <a:xfrm>
            <a:off x="10363200" y="2036064"/>
            <a:ext cx="1341120" cy="195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5" dirty="0">
                <a:solidFill>
                  <a:srgbClr val="10B98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工具: 计数器/PDA</a:t>
            </a:r>
            <a:endParaRPr lang="en-US" sz="935" dirty="0"/>
          </a:p>
        </p:txBody>
      </p:sp>
      <p:sp>
        <p:nvSpPr>
          <p:cNvPr id="39" name="Shape 37"/>
          <p:cNvSpPr/>
          <p:nvPr/>
        </p:nvSpPr>
        <p:spPr>
          <a:xfrm>
            <a:off x="6096000" y="2377440"/>
            <a:ext cx="5730240" cy="426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96000" y="2377440"/>
            <a:ext cx="73152" cy="426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1" name="Text 39"/>
          <p:cNvSpPr/>
          <p:nvPr/>
        </p:nvSpPr>
        <p:spPr>
          <a:xfrm>
            <a:off x="6217920" y="2401824"/>
            <a:ext cx="1219200" cy="195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10B98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🧱 纵横交错式</a:t>
            </a:r>
            <a:endParaRPr lang="en-US" sz="1335" dirty="0"/>
          </a:p>
        </p:txBody>
      </p:sp>
      <p:sp>
        <p:nvSpPr>
          <p:cNvPr id="42" name="Text 40"/>
          <p:cNvSpPr/>
          <p:nvPr/>
        </p:nvSpPr>
        <p:spPr>
          <a:xfrm>
            <a:off x="7437120" y="2401824"/>
            <a:ext cx="2926080" cy="195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点数: 先数一面 → 估算整体</a:t>
            </a:r>
            <a:endParaRPr lang="en-US" sz="1065" dirty="0"/>
          </a:p>
        </p:txBody>
      </p:sp>
      <p:sp>
        <p:nvSpPr>
          <p:cNvPr id="43" name="Text 41"/>
          <p:cNvSpPr/>
          <p:nvPr/>
        </p:nvSpPr>
        <p:spPr>
          <a:xfrm>
            <a:off x="6217920" y="2596896"/>
            <a:ext cx="3413760" cy="170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5" dirty="0">
                <a:solidFill>
                  <a:srgbClr val="F59E0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⚠️ 注意层与层咬合是否紧密</a:t>
            </a:r>
            <a:endParaRPr lang="en-US" sz="935" dirty="0"/>
          </a:p>
        </p:txBody>
      </p:sp>
      <p:sp>
        <p:nvSpPr>
          <p:cNvPr id="44" name="Text 42"/>
          <p:cNvSpPr/>
          <p:nvPr/>
        </p:nvSpPr>
        <p:spPr>
          <a:xfrm>
            <a:off x="10363200" y="2499360"/>
            <a:ext cx="1341120" cy="195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5" dirty="0">
                <a:solidFill>
                  <a:srgbClr val="10B98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工具: 计数器+PDA</a:t>
            </a:r>
            <a:endParaRPr lang="en-US" sz="935" dirty="0"/>
          </a:p>
        </p:txBody>
      </p:sp>
      <p:sp>
        <p:nvSpPr>
          <p:cNvPr id="45" name="Shape 43"/>
          <p:cNvSpPr/>
          <p:nvPr/>
        </p:nvSpPr>
        <p:spPr>
          <a:xfrm>
            <a:off x="6096000" y="2840736"/>
            <a:ext cx="5730240" cy="426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96000" y="2840736"/>
            <a:ext cx="73152" cy="42672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47" name="Text 45"/>
          <p:cNvSpPr/>
          <p:nvPr/>
        </p:nvSpPr>
        <p:spPr>
          <a:xfrm>
            <a:off x="6217920" y="2865120"/>
            <a:ext cx="1219200" cy="195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14B8A6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🧮 五五堆码</a:t>
            </a:r>
            <a:endParaRPr lang="en-US" sz="1335" dirty="0"/>
          </a:p>
        </p:txBody>
      </p:sp>
      <p:sp>
        <p:nvSpPr>
          <p:cNvPr id="48" name="Text 46"/>
          <p:cNvSpPr/>
          <p:nvPr/>
        </p:nvSpPr>
        <p:spPr>
          <a:xfrm>
            <a:off x="7437120" y="2865120"/>
            <a:ext cx="2926080" cy="195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点数: 五五成组 → 组数×5</a:t>
            </a:r>
            <a:endParaRPr lang="en-US" sz="1065" dirty="0"/>
          </a:p>
        </p:txBody>
      </p:sp>
      <p:sp>
        <p:nvSpPr>
          <p:cNvPr id="49" name="Text 47"/>
          <p:cNvSpPr/>
          <p:nvPr/>
        </p:nvSpPr>
        <p:spPr>
          <a:xfrm>
            <a:off x="6217920" y="3060192"/>
            <a:ext cx="3413760" cy="170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5" dirty="0">
                <a:solidFill>
                  <a:srgbClr val="F59E0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⚠️ 按排列组合快速核算总数</a:t>
            </a:r>
            <a:endParaRPr lang="en-US" sz="935" dirty="0"/>
          </a:p>
        </p:txBody>
      </p:sp>
      <p:sp>
        <p:nvSpPr>
          <p:cNvPr id="50" name="Text 48"/>
          <p:cNvSpPr/>
          <p:nvPr/>
        </p:nvSpPr>
        <p:spPr>
          <a:xfrm>
            <a:off x="10363200" y="2962656"/>
            <a:ext cx="1341120" cy="195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5" dirty="0">
                <a:solidFill>
                  <a:srgbClr val="10B98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工具: 目视+计数器</a:t>
            </a:r>
            <a:endParaRPr lang="en-US" sz="935" dirty="0"/>
          </a:p>
        </p:txBody>
      </p:sp>
      <p:sp>
        <p:nvSpPr>
          <p:cNvPr id="51" name="Shape 49"/>
          <p:cNvSpPr/>
          <p:nvPr/>
        </p:nvSpPr>
        <p:spPr>
          <a:xfrm>
            <a:off x="6096000" y="3304032"/>
            <a:ext cx="5730240" cy="426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096000" y="3304032"/>
            <a:ext cx="73152" cy="426720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53" name="Text 51"/>
          <p:cNvSpPr/>
          <p:nvPr/>
        </p:nvSpPr>
        <p:spPr>
          <a:xfrm>
            <a:off x="6217920" y="3328416"/>
            <a:ext cx="1219200" cy="195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6366F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📦 托盘堆码</a:t>
            </a:r>
            <a:endParaRPr lang="en-US" sz="1335" dirty="0"/>
          </a:p>
        </p:txBody>
      </p:sp>
      <p:sp>
        <p:nvSpPr>
          <p:cNvPr id="54" name="Text 52"/>
          <p:cNvSpPr/>
          <p:nvPr/>
        </p:nvSpPr>
        <p:spPr>
          <a:xfrm>
            <a:off x="7437120" y="3328416"/>
            <a:ext cx="2926080" cy="195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点数: 整托计数 → 托盘数×每托数量</a:t>
            </a:r>
            <a:endParaRPr lang="en-US" sz="1065" dirty="0"/>
          </a:p>
        </p:txBody>
      </p:sp>
      <p:sp>
        <p:nvSpPr>
          <p:cNvPr id="55" name="Text 53"/>
          <p:cNvSpPr/>
          <p:nvPr/>
        </p:nvSpPr>
        <p:spPr>
          <a:xfrm>
            <a:off x="6217920" y="3523488"/>
            <a:ext cx="3413760" cy="170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5" dirty="0">
                <a:solidFill>
                  <a:srgbClr val="F59E0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⚠️ 叉车翻转验层，查外观</a:t>
            </a:r>
            <a:endParaRPr lang="en-US" sz="935" dirty="0"/>
          </a:p>
        </p:txBody>
      </p:sp>
      <p:sp>
        <p:nvSpPr>
          <p:cNvPr id="56" name="Text 54"/>
          <p:cNvSpPr/>
          <p:nvPr/>
        </p:nvSpPr>
        <p:spPr>
          <a:xfrm>
            <a:off x="10363200" y="3425952"/>
            <a:ext cx="1341120" cy="195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5" dirty="0">
                <a:solidFill>
                  <a:srgbClr val="10B98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工具: PDA扫描</a:t>
            </a:r>
            <a:endParaRPr lang="en-US" sz="935" dirty="0"/>
          </a:p>
        </p:txBody>
      </p:sp>
      <p:sp>
        <p:nvSpPr>
          <p:cNvPr id="57" name="Shape 55"/>
          <p:cNvSpPr/>
          <p:nvPr/>
        </p:nvSpPr>
        <p:spPr>
          <a:xfrm>
            <a:off x="6096000" y="3767328"/>
            <a:ext cx="5730240" cy="426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096000" y="3767328"/>
            <a:ext cx="73152" cy="42672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59" name="Text 57"/>
          <p:cNvSpPr/>
          <p:nvPr/>
        </p:nvSpPr>
        <p:spPr>
          <a:xfrm>
            <a:off x="6217920" y="3791712"/>
            <a:ext cx="1219200" cy="195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8B5CF6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💨 通风式</a:t>
            </a:r>
            <a:endParaRPr lang="en-US" sz="1335" dirty="0"/>
          </a:p>
        </p:txBody>
      </p:sp>
      <p:sp>
        <p:nvSpPr>
          <p:cNvPr id="60" name="Text 58"/>
          <p:cNvSpPr/>
          <p:nvPr/>
        </p:nvSpPr>
        <p:spPr>
          <a:xfrm>
            <a:off x="7437120" y="3791712"/>
            <a:ext cx="2926080" cy="195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点数: 逐列点数 → 列数×每列数量</a:t>
            </a:r>
            <a:endParaRPr lang="en-US" sz="1065" dirty="0"/>
          </a:p>
        </p:txBody>
      </p:sp>
      <p:sp>
        <p:nvSpPr>
          <p:cNvPr id="61" name="Text 59"/>
          <p:cNvSpPr/>
          <p:nvPr/>
        </p:nvSpPr>
        <p:spPr>
          <a:xfrm>
            <a:off x="6217920" y="3986784"/>
            <a:ext cx="3413760" cy="170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5" dirty="0">
                <a:solidFill>
                  <a:srgbClr val="F59E0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⚠️ 检查通风间隙是否堵塞</a:t>
            </a:r>
            <a:endParaRPr lang="en-US" sz="935" dirty="0"/>
          </a:p>
        </p:txBody>
      </p:sp>
      <p:sp>
        <p:nvSpPr>
          <p:cNvPr id="62" name="Text 60"/>
          <p:cNvSpPr/>
          <p:nvPr/>
        </p:nvSpPr>
        <p:spPr>
          <a:xfrm>
            <a:off x="10363200" y="3889248"/>
            <a:ext cx="1341120" cy="195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5" dirty="0">
                <a:solidFill>
                  <a:srgbClr val="10B98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工具: 计数器</a:t>
            </a:r>
            <a:endParaRPr lang="en-US" sz="935" dirty="0"/>
          </a:p>
        </p:txBody>
      </p:sp>
      <p:sp>
        <p:nvSpPr>
          <p:cNvPr id="63" name="Shape 61"/>
          <p:cNvSpPr/>
          <p:nvPr/>
        </p:nvSpPr>
        <p:spPr>
          <a:xfrm>
            <a:off x="6096000" y="4230624"/>
            <a:ext cx="5730240" cy="426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096000" y="4230624"/>
            <a:ext cx="73152" cy="426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65" name="Text 63"/>
          <p:cNvSpPr/>
          <p:nvPr/>
        </p:nvSpPr>
        <p:spPr>
          <a:xfrm>
            <a:off x="6217920" y="4255008"/>
            <a:ext cx="1219200" cy="195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b="1" dirty="0">
                <a:solidFill>
                  <a:srgbClr val="F59E0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🕸️ 井字形</a:t>
            </a:r>
            <a:endParaRPr lang="en-US" sz="1335" dirty="0"/>
          </a:p>
        </p:txBody>
      </p:sp>
      <p:sp>
        <p:nvSpPr>
          <p:cNvPr id="66" name="Text 64"/>
          <p:cNvSpPr/>
          <p:nvPr/>
        </p:nvSpPr>
        <p:spPr>
          <a:xfrm>
            <a:off x="7437120" y="4255008"/>
            <a:ext cx="2926080" cy="195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点数: 交叉验证 → 两方向各数一遍</a:t>
            </a:r>
            <a:endParaRPr lang="en-US" sz="1065" dirty="0"/>
          </a:p>
        </p:txBody>
      </p:sp>
      <p:sp>
        <p:nvSpPr>
          <p:cNvPr id="67" name="Text 65"/>
          <p:cNvSpPr/>
          <p:nvPr/>
        </p:nvSpPr>
        <p:spPr>
          <a:xfrm>
            <a:off x="6217920" y="4450080"/>
            <a:ext cx="3413760" cy="170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5" dirty="0">
                <a:solidFill>
                  <a:srgbClr val="F59E0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⚠️ 检查交叉处是否变形</a:t>
            </a:r>
            <a:endParaRPr lang="en-US" sz="935" dirty="0"/>
          </a:p>
        </p:txBody>
      </p:sp>
      <p:sp>
        <p:nvSpPr>
          <p:cNvPr id="68" name="Text 66"/>
          <p:cNvSpPr/>
          <p:nvPr/>
        </p:nvSpPr>
        <p:spPr>
          <a:xfrm>
            <a:off x="10363200" y="4352544"/>
            <a:ext cx="1341120" cy="195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5" dirty="0">
                <a:solidFill>
                  <a:srgbClr val="10B98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工具: 双人配合</a:t>
            </a:r>
            <a:endParaRPr lang="en-US" sz="935" dirty="0"/>
          </a:p>
        </p:txBody>
      </p:sp>
      <p:sp>
        <p:nvSpPr>
          <p:cNvPr id="69" name="Shape 67"/>
          <p:cNvSpPr/>
          <p:nvPr/>
        </p:nvSpPr>
        <p:spPr>
          <a:xfrm>
            <a:off x="365760" y="4655820"/>
            <a:ext cx="11460480" cy="390144"/>
          </a:xfrm>
          <a:prstGeom prst="rect">
            <a:avLst/>
          </a:prstGeom>
          <a:solidFill>
            <a:srgbClr val="EC4899"/>
          </a:solidFill>
        </p:spPr>
      </p:sp>
      <p:sp>
        <p:nvSpPr>
          <p:cNvPr id="70" name="Text 68"/>
          <p:cNvSpPr/>
          <p:nvPr/>
        </p:nvSpPr>
        <p:spPr>
          <a:xfrm>
            <a:off x="487680" y="4704588"/>
            <a:ext cx="11216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💡 盘点点数实用技巧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65760" y="5143500"/>
            <a:ext cx="2194560" cy="1158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365760" y="5284470"/>
            <a:ext cx="219456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🧮</a:t>
            </a:r>
            <a:endParaRPr lang="en-US" sz="2400" dirty="0"/>
          </a:p>
        </p:txBody>
      </p:sp>
      <p:sp>
        <p:nvSpPr>
          <p:cNvPr id="73" name="Text 71"/>
          <p:cNvSpPr/>
          <p:nvPr/>
        </p:nvSpPr>
        <p:spPr>
          <a:xfrm>
            <a:off x="426720" y="5533644"/>
            <a:ext cx="20726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35" b="1" dirty="0">
                <a:solidFill>
                  <a:srgbClr val="EC4899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五五堆码法</a:t>
            </a:r>
            <a:endParaRPr lang="en-US" sz="1335" dirty="0"/>
          </a:p>
        </p:txBody>
      </p:sp>
      <p:sp>
        <p:nvSpPr>
          <p:cNvPr id="74" name="Text 72"/>
          <p:cNvSpPr/>
          <p:nvPr/>
        </p:nvSpPr>
        <p:spPr>
          <a:xfrm>
            <a:off x="426720" y="5777484"/>
            <a:ext cx="207264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5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数完一组后做个记号</a:t>
            </a:r>
            <a:endParaRPr lang="en-US" sz="935" dirty="0"/>
          </a:p>
          <a:p>
            <a:pPr marL="0" indent="0" algn="ctr">
              <a:buNone/>
            </a:pPr>
            <a:r>
              <a:rPr lang="en-US" sz="935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减少重复计数</a:t>
            </a:r>
            <a:endParaRPr lang="en-US" sz="935" dirty="0"/>
          </a:p>
        </p:txBody>
      </p:sp>
      <p:sp>
        <p:nvSpPr>
          <p:cNvPr id="75" name="Shape 73"/>
          <p:cNvSpPr/>
          <p:nvPr/>
        </p:nvSpPr>
        <p:spPr>
          <a:xfrm>
            <a:off x="2657856" y="5143500"/>
            <a:ext cx="2194560" cy="1158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2657856" y="5284470"/>
            <a:ext cx="219456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77" name="Text 75"/>
          <p:cNvSpPr/>
          <p:nvPr/>
        </p:nvSpPr>
        <p:spPr>
          <a:xfrm>
            <a:off x="2718816" y="5533644"/>
            <a:ext cx="20726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35" b="1" dirty="0">
                <a:solidFill>
                  <a:srgbClr val="EC4899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托盘整托法</a:t>
            </a:r>
            <a:endParaRPr lang="en-US" sz="1335" dirty="0"/>
          </a:p>
        </p:txBody>
      </p:sp>
      <p:sp>
        <p:nvSpPr>
          <p:cNvPr id="78" name="Text 76"/>
          <p:cNvSpPr/>
          <p:nvPr/>
        </p:nvSpPr>
        <p:spPr>
          <a:xfrm>
            <a:off x="2718816" y="5777484"/>
            <a:ext cx="207264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5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先数托盘数</a:t>
            </a:r>
            <a:endParaRPr lang="en-US" sz="935" dirty="0"/>
          </a:p>
          <a:p>
            <a:pPr marL="0" indent="0" algn="ctr">
              <a:buNone/>
            </a:pPr>
            <a:r>
              <a:rPr lang="en-US" sz="935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再确认每托数量</a:t>
            </a:r>
            <a:endParaRPr lang="en-US" sz="935" dirty="0"/>
          </a:p>
          <a:p>
            <a:pPr marL="0" indent="0" algn="ctr">
              <a:buNone/>
            </a:pPr>
            <a:r>
              <a:rPr lang="en-US" sz="935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最后相乘</a:t>
            </a:r>
            <a:endParaRPr lang="en-US" sz="935" dirty="0"/>
          </a:p>
        </p:txBody>
      </p:sp>
      <p:sp>
        <p:nvSpPr>
          <p:cNvPr id="79" name="Shape 77"/>
          <p:cNvSpPr/>
          <p:nvPr/>
        </p:nvSpPr>
        <p:spPr>
          <a:xfrm>
            <a:off x="4949952" y="5143500"/>
            <a:ext cx="2194560" cy="1158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4949952" y="5284470"/>
            <a:ext cx="219456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81" name="Text 79"/>
          <p:cNvSpPr/>
          <p:nvPr/>
        </p:nvSpPr>
        <p:spPr>
          <a:xfrm>
            <a:off x="5010912" y="5533644"/>
            <a:ext cx="20726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35" b="1" dirty="0">
                <a:solidFill>
                  <a:srgbClr val="EC4899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交叉验证法</a:t>
            </a:r>
            <a:endParaRPr lang="en-US" sz="1335" dirty="0"/>
          </a:p>
        </p:txBody>
      </p:sp>
      <p:sp>
        <p:nvSpPr>
          <p:cNvPr id="82" name="Text 80"/>
          <p:cNvSpPr/>
          <p:nvPr/>
        </p:nvSpPr>
        <p:spPr>
          <a:xfrm>
            <a:off x="5010912" y="5777484"/>
            <a:ext cx="207264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5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两人各数一遍</a:t>
            </a:r>
            <a:endParaRPr lang="en-US" sz="935" dirty="0"/>
          </a:p>
          <a:p>
            <a:pPr marL="0" indent="0" algn="ctr">
              <a:buNone/>
            </a:pPr>
            <a:r>
              <a:rPr lang="en-US" sz="935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对不上重新数</a:t>
            </a:r>
            <a:endParaRPr lang="en-US" sz="935" dirty="0"/>
          </a:p>
          <a:p>
            <a:pPr marL="0" indent="0" algn="ctr">
              <a:buNone/>
            </a:pPr>
            <a:r>
              <a:rPr lang="en-US" sz="935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确保准确</a:t>
            </a:r>
            <a:endParaRPr lang="en-US" sz="935" dirty="0"/>
          </a:p>
        </p:txBody>
      </p:sp>
      <p:sp>
        <p:nvSpPr>
          <p:cNvPr id="83" name="Shape 81"/>
          <p:cNvSpPr/>
          <p:nvPr/>
        </p:nvSpPr>
        <p:spPr>
          <a:xfrm>
            <a:off x="7242048" y="5143500"/>
            <a:ext cx="2194560" cy="1158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7242048" y="5284470"/>
            <a:ext cx="219456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🏷️</a:t>
            </a:r>
            <a:endParaRPr lang="en-US" sz="2400" dirty="0"/>
          </a:p>
        </p:txBody>
      </p:sp>
      <p:sp>
        <p:nvSpPr>
          <p:cNvPr id="85" name="Text 83"/>
          <p:cNvSpPr/>
          <p:nvPr/>
        </p:nvSpPr>
        <p:spPr>
          <a:xfrm>
            <a:off x="7303008" y="5533644"/>
            <a:ext cx="20726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35" b="1" dirty="0">
                <a:solidFill>
                  <a:srgbClr val="EC4899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标记法</a:t>
            </a:r>
            <a:endParaRPr lang="en-US" sz="1335" dirty="0"/>
          </a:p>
        </p:txBody>
      </p:sp>
      <p:sp>
        <p:nvSpPr>
          <p:cNvPr id="86" name="Text 84"/>
          <p:cNvSpPr/>
          <p:nvPr/>
        </p:nvSpPr>
        <p:spPr>
          <a:xfrm>
            <a:off x="7303008" y="5777484"/>
            <a:ext cx="207264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5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盘完一处贴标签</a:t>
            </a:r>
            <a:endParaRPr lang="en-US" sz="935" dirty="0"/>
          </a:p>
          <a:p>
            <a:pPr marL="0" indent="0" algn="ctr">
              <a:buNone/>
            </a:pPr>
            <a:r>
              <a:rPr lang="en-US" sz="935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避免漏盘重复盘</a:t>
            </a:r>
            <a:endParaRPr lang="en-US" sz="935" dirty="0"/>
          </a:p>
          <a:p>
            <a:pPr marL="0" indent="0" algn="ctr">
              <a:buNone/>
            </a:pPr>
            <a:r>
              <a:rPr lang="en-US" sz="935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提升效率</a:t>
            </a:r>
            <a:endParaRPr lang="en-US" sz="935" dirty="0"/>
          </a:p>
        </p:txBody>
      </p:sp>
      <p:sp>
        <p:nvSpPr>
          <p:cNvPr id="87" name="Shape 85"/>
          <p:cNvSpPr/>
          <p:nvPr/>
        </p:nvSpPr>
        <p:spPr>
          <a:xfrm>
            <a:off x="9534144" y="5143500"/>
            <a:ext cx="2194560" cy="1158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9534144" y="5284470"/>
            <a:ext cx="219456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🙈</a:t>
            </a:r>
            <a:endParaRPr lang="en-US" sz="2400" dirty="0"/>
          </a:p>
        </p:txBody>
      </p:sp>
      <p:sp>
        <p:nvSpPr>
          <p:cNvPr id="89" name="Text 87"/>
          <p:cNvSpPr/>
          <p:nvPr/>
        </p:nvSpPr>
        <p:spPr>
          <a:xfrm>
            <a:off x="9595104" y="5533644"/>
            <a:ext cx="207264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35" b="1" dirty="0">
                <a:solidFill>
                  <a:srgbClr val="EC4899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盲盘法</a:t>
            </a:r>
            <a:endParaRPr lang="en-US" sz="1335" dirty="0"/>
          </a:p>
        </p:txBody>
      </p:sp>
      <p:sp>
        <p:nvSpPr>
          <p:cNvPr id="90" name="Text 88"/>
          <p:cNvSpPr/>
          <p:nvPr/>
        </p:nvSpPr>
        <p:spPr>
          <a:xfrm>
            <a:off x="9595104" y="5777484"/>
            <a:ext cx="207264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5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不看系统数据</a:t>
            </a:r>
            <a:endParaRPr lang="en-US" sz="935" dirty="0"/>
          </a:p>
          <a:p>
            <a:pPr marL="0" indent="0" algn="ctr">
              <a:buNone/>
            </a:pPr>
            <a:r>
              <a:rPr lang="en-US" sz="935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直接清点实物</a:t>
            </a:r>
            <a:endParaRPr lang="en-US" sz="935" dirty="0"/>
          </a:p>
          <a:p>
            <a:pPr marL="0" indent="0" algn="ctr">
              <a:buNone/>
            </a:pPr>
            <a:r>
              <a:rPr lang="en-US" sz="935" dirty="0">
                <a:solidFill>
                  <a:srgbClr val="1F293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避免人为干扰</a:t>
            </a:r>
            <a:endParaRPr lang="en-US" sz="935" dirty="0"/>
          </a:p>
        </p:txBody>
      </p:sp>
      <p:sp>
        <p:nvSpPr>
          <p:cNvPr id="91" name="Shape 89"/>
          <p:cNvSpPr/>
          <p:nvPr/>
        </p:nvSpPr>
        <p:spPr>
          <a:xfrm>
            <a:off x="365760" y="6330315"/>
            <a:ext cx="11460480" cy="512064"/>
          </a:xfrm>
          <a:prstGeom prst="rect">
            <a:avLst/>
          </a:prstGeom>
          <a:solidFill>
            <a:srgbClr val="FEF3C7"/>
          </a:solidFill>
        </p:spPr>
      </p:sp>
      <p:sp>
        <p:nvSpPr>
          <p:cNvPr id="92" name="Text 90"/>
          <p:cNvSpPr/>
          <p:nvPr/>
        </p:nvSpPr>
        <p:spPr>
          <a:xfrm>
            <a:off x="487680" y="6391275"/>
            <a:ext cx="1121664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📌 盘点注意事项：①盘点前确认库存流动已停止 ②从上到下、从外到内依次盘点 ③记录异常情况（破损、受潮、变形） ④盘点后核对账物卡是否一致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463040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3" name="Text 1"/>
          <p:cNvSpPr/>
          <p:nvPr/>
        </p:nvSpPr>
        <p:spPr>
          <a:xfrm>
            <a:off x="609600" y="365760"/>
            <a:ext cx="11460480" cy="853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735" b="1" dirty="0">
                <a:solidFill>
                  <a:srgbClr val="FFFFFF"/>
                </a:solidFill>
              </a:rPr>
              <a:t>探讨：如果让你去仓库实习一周，你可以快速上手么？</a:t>
            </a:r>
            <a:endParaRPr lang="en-US" sz="3735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3657600" cy="3413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767840"/>
            <a:ext cx="36576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35" b="1" dirty="0">
                <a:solidFill>
                  <a:srgbClr val="1E88E5"/>
                </a:solidFill>
              </a:rPr>
              <a:t>📋 实习任务清单</a:t>
            </a:r>
            <a:endParaRPr lang="en-US" sz="2135" dirty="0"/>
          </a:p>
        </p:txBody>
      </p:sp>
      <p:sp>
        <p:nvSpPr>
          <p:cNvPr id="6" name="Text 4"/>
          <p:cNvSpPr/>
          <p:nvPr/>
        </p:nvSpPr>
        <p:spPr>
          <a:xfrm>
            <a:off x="609600" y="2499360"/>
            <a:ext cx="3169920" cy="2438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37474F"/>
                </a:solidFill>
              </a:rPr>
              <a:t>任务1：</a:t>
            </a:r>
            <a:r>
              <a:rPr lang="en-US" sz="1600" dirty="0">
                <a:solidFill>
                  <a:srgbClr val="37474F"/>
                </a:solidFill>
              </a:rPr>
              <a:t>完成仓库每日盘点
</a:t>
            </a:r>
            <a:r>
              <a:rPr lang="en-US" sz="1465" dirty="0">
                <a:solidFill>
                  <a:srgbClr val="37474F"/>
                </a:solidFill>
              </a:rPr>
              <a:t>• 系统盘点方式有哪些？
• 如何用扫描方式快速准确完成？
</a:t>
            </a:r>
            <a:r>
              <a:rPr lang="en-US" sz="1600" b="1" dirty="0">
                <a:solidFill>
                  <a:srgbClr val="37474F"/>
                </a:solidFill>
              </a:rPr>
              <a:t>任务2：</a:t>
            </a:r>
            <a:r>
              <a:rPr lang="en-US" sz="1600" dirty="0">
                <a:solidFill>
                  <a:srgbClr val="37474F"/>
                </a:solidFill>
              </a:rPr>
              <a:t>完成仓库收发货扫描
</a:t>
            </a:r>
            <a:r>
              <a:rPr lang="en-US" sz="1465" dirty="0">
                <a:solidFill>
                  <a:srgbClr val="37474F"/>
                </a:solidFill>
              </a:rPr>
              <a:t>• 收货流程是什么？
• 发货扫描要注意什么？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67200" y="1645920"/>
            <a:ext cx="3901440" cy="3413760"/>
          </a:xfrm>
          <a:prstGeom prst="roundRect">
            <a:avLst>
              <a:gd name="adj" fmla="val 3571"/>
            </a:avLst>
          </a:prstGeom>
          <a:solidFill>
            <a:srgbClr val="FFF3E0"/>
          </a:solidFill>
          <a:ln w="25400">
            <a:solidFill>
              <a:srgbClr val="FB8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67200" y="1767840"/>
            <a:ext cx="390144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35" b="1" dirty="0">
                <a:solidFill>
                  <a:srgbClr val="FB8C00"/>
                </a:solidFill>
              </a:rPr>
              <a:t>💬 互动讨论议题</a:t>
            </a:r>
            <a:endParaRPr lang="en-US" sz="2135" dirty="0"/>
          </a:p>
        </p:txBody>
      </p:sp>
      <p:sp>
        <p:nvSpPr>
          <p:cNvPr id="9" name="Text 7"/>
          <p:cNvSpPr/>
          <p:nvPr/>
        </p:nvSpPr>
        <p:spPr>
          <a:xfrm>
            <a:off x="4511040" y="2499360"/>
            <a:ext cx="3413760" cy="2438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37474F"/>
                </a:solidFill>
              </a:rPr>
              <a:t>议题1：</a:t>
            </a:r>
            <a:r>
              <a:rPr lang="en-US" sz="1600" dirty="0">
                <a:solidFill>
                  <a:srgbClr val="37474F"/>
                </a:solidFill>
              </a:rPr>
              <a:t>盘点方式探讨
</a:t>
            </a:r>
            <a:r>
              <a:rPr lang="en-US" sz="1465" dirty="0">
                <a:solidFill>
                  <a:srgbClr val="37474F"/>
                </a:solidFill>
              </a:rPr>
              <a:t>→ 你用过哪些盘点方式？
→ 扫描盘点 vs 手工盘点？
</a:t>
            </a:r>
            <a:r>
              <a:rPr lang="en-US" sz="1600" b="1" dirty="0">
                <a:solidFill>
                  <a:srgbClr val="37474F"/>
                </a:solidFill>
              </a:rPr>
              <a:t>议题2：</a:t>
            </a:r>
            <a:r>
              <a:rPr lang="en-US" sz="1600" dirty="0">
                <a:solidFill>
                  <a:srgbClr val="37474F"/>
                </a:solidFill>
              </a:rPr>
              <a:t>收发货流程
</a:t>
            </a:r>
            <a:r>
              <a:rPr lang="en-US" sz="1465" dirty="0">
                <a:solidFill>
                  <a:srgbClr val="37474F"/>
                </a:solidFill>
              </a:rPr>
              <a:t>→ 收货时如何快速核对？
→ 发货扫描容易出错的环节？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0" y="1645920"/>
            <a:ext cx="3413760" cy="3785235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 w="25400">
            <a:solidFill>
              <a:srgbClr val="43A0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3900" y="1615440"/>
            <a:ext cx="341376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35" b="1" dirty="0">
                <a:solidFill>
                  <a:srgbClr val="43A047"/>
                </a:solidFill>
              </a:rPr>
              <a:t>🤔 思考框架</a:t>
            </a:r>
            <a:endParaRPr lang="en-US" sz="2135" dirty="0"/>
          </a:p>
        </p:txBody>
      </p:sp>
      <p:sp>
        <p:nvSpPr>
          <p:cNvPr id="12" name="Text 10"/>
          <p:cNvSpPr/>
          <p:nvPr/>
        </p:nvSpPr>
        <p:spPr>
          <a:xfrm>
            <a:off x="8656320" y="2377440"/>
            <a:ext cx="3050540" cy="28613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7474F"/>
                </a:solidFill>
              </a:rPr>
              <a:t>快速上手的5个关键：
</a:t>
            </a:r>
            <a:r>
              <a:rPr lang="en-US" sz="1465" dirty="0">
                <a:solidFill>
                  <a:srgbClr val="37474F"/>
                </a:solidFill>
              </a:rPr>
              <a:t>1️⃣ 熟悉环境布局
</a:t>
            </a:r>
            <a:r>
              <a:rPr lang="en-US" sz="1335" dirty="0">
                <a:solidFill>
                  <a:srgbClr val="37474F"/>
                </a:solidFill>
              </a:rPr>
              <a:t>   → 库位、通道、设备位置
</a:t>
            </a:r>
            <a:r>
              <a:rPr lang="en-US" sz="1465" dirty="0">
                <a:solidFill>
                  <a:srgbClr val="37474F"/>
                </a:solidFill>
              </a:rPr>
              <a:t>2️⃣ 掌握系统操作
</a:t>
            </a:r>
            <a:r>
              <a:rPr lang="en-US" sz="1335" dirty="0">
                <a:solidFill>
                  <a:srgbClr val="37474F"/>
                </a:solidFill>
              </a:rPr>
              <a:t>   → WMS、PDA扫描枪
</a:t>
            </a:r>
            <a:r>
              <a:rPr lang="en-US" sz="1465" dirty="0">
                <a:solidFill>
                  <a:srgbClr val="37474F"/>
                </a:solidFill>
              </a:rPr>
              <a:t>3️⃣ 理解标准流程
</a:t>
            </a:r>
            <a:r>
              <a:rPr lang="en-US" sz="1335" dirty="0">
                <a:solidFill>
                  <a:srgbClr val="37474F"/>
                </a:solidFill>
              </a:rPr>
              <a:t>   → SOP、异常处理
</a:t>
            </a:r>
            <a:r>
              <a:rPr lang="en-US" sz="1465" dirty="0">
                <a:solidFill>
                  <a:srgbClr val="37474F"/>
                </a:solidFill>
              </a:rPr>
              <a:t>4️⃣ 学会盘点技巧
</a:t>
            </a:r>
            <a:r>
              <a:rPr lang="en-US" sz="1335" dirty="0">
                <a:solidFill>
                  <a:srgbClr val="37474F"/>
                </a:solidFill>
              </a:rPr>
              <a:t>   → 五五堆码、托盘计数
</a:t>
            </a:r>
            <a:r>
              <a:rPr lang="en-US" sz="1465" dirty="0">
                <a:solidFill>
                  <a:srgbClr val="37474F"/>
                </a:solidFill>
              </a:rPr>
              <a:t>5️⃣ 注意易错点
</a:t>
            </a:r>
            <a:r>
              <a:rPr lang="en-US" sz="1335" dirty="0">
                <a:solidFill>
                  <a:srgbClr val="37474F"/>
                </a:solidFill>
              </a:rPr>
              <a:t>   → SKU核对、数量确认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5730240"/>
            <a:ext cx="11460480" cy="997585"/>
          </a:xfrm>
          <a:prstGeom prst="roundRect">
            <a:avLst>
              <a:gd name="adj" fmla="val 7692"/>
            </a:avLst>
          </a:prstGeom>
          <a:solidFill>
            <a:srgbClr val="7B1FA2"/>
          </a:solidFill>
        </p:spPr>
      </p:sp>
      <p:sp>
        <p:nvSpPr>
          <p:cNvPr id="14" name="Text 12"/>
          <p:cNvSpPr/>
          <p:nvPr/>
        </p:nvSpPr>
        <p:spPr>
          <a:xfrm>
            <a:off x="609600" y="5730240"/>
            <a:ext cx="109728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65" b="1" dirty="0">
                <a:solidFill>
                  <a:srgbClr val="FFFFFF"/>
                </a:solidFill>
              </a:rPr>
              <a:t>🎯 讨论引导：</a:t>
            </a:r>
            <a:r>
              <a:rPr lang="zh-CN" altLang="en-US" sz="1865" b="1" dirty="0">
                <a:solidFill>
                  <a:srgbClr val="FFFFFF"/>
                </a:solidFill>
              </a:rPr>
              <a:t>设计飞机的人会不会开飞机</a:t>
            </a:r>
            <a:r>
              <a:rPr lang="en-US" altLang="zh-CN" sz="1865" b="1" dirty="0">
                <a:solidFill>
                  <a:srgbClr val="FFFFFF"/>
                </a:solidFill>
              </a:rPr>
              <a:t>？</a:t>
            </a:r>
            <a:r>
              <a:rPr lang="zh-CN" altLang="en-US" sz="1865" b="1" dirty="0">
                <a:solidFill>
                  <a:srgbClr val="FFFFFF"/>
                </a:solidFill>
              </a:rPr>
              <a:t>设计系统的人会管理仓库么</a:t>
            </a:r>
            <a:r>
              <a:rPr lang="en-US" altLang="zh-CN" sz="1865" b="1" dirty="0">
                <a:solidFill>
                  <a:srgbClr val="FFFFFF"/>
                </a:solidFill>
              </a:rPr>
              <a:t>？</a:t>
            </a:r>
            <a:endParaRPr lang="en-US" altLang="zh-CN" sz="1865" b="1" dirty="0">
              <a:solidFill>
                <a:srgbClr val="FFFFFF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9600" y="6339840"/>
            <a:ext cx="109728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5" dirty="0">
                <a:solidFill>
                  <a:srgbClr val="FFECB3"/>
                </a:solidFill>
              </a:rPr>
              <a:t>💡 提示：可以从「盘点方式选择」「收发货流程优化」「常见错误避免」等角度展开讨论</a:t>
            </a:r>
            <a:endParaRPr lang="en-US" sz="146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609600" y="2438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仓储系统指标分析</a:t>
            </a:r>
            <a:endParaRPr lang="en-US" sz="3465" dirty="0"/>
          </a:p>
        </p:txBody>
      </p:sp>
      <p:sp>
        <p:nvSpPr>
          <p:cNvPr id="4" name="Shape 2"/>
          <p:cNvSpPr/>
          <p:nvPr/>
        </p:nvSpPr>
        <p:spPr>
          <a:xfrm>
            <a:off x="426720" y="1341120"/>
            <a:ext cx="5608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6720" y="1341120"/>
            <a:ext cx="5608320" cy="548640"/>
          </a:xfrm>
          <a:prstGeom prst="rect">
            <a:avLst/>
          </a:prstGeom>
          <a:solidFill>
            <a:srgbClr val="1976D2"/>
          </a:solidFill>
        </p:spPr>
      </p:sp>
      <p:sp>
        <p:nvSpPr>
          <p:cNvPr id="6" name="Text 4"/>
          <p:cNvSpPr/>
          <p:nvPr/>
        </p:nvSpPr>
        <p:spPr>
          <a:xfrm>
            <a:off x="548640" y="1438656"/>
            <a:ext cx="536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📊 📦 库存指标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库存周转率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1648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公式: 周转量÷库存总量×100%</a:t>
            </a:r>
            <a:endParaRPr lang="en-US" sz="1065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来源: WMS+ERP</a:t>
            </a:r>
            <a:endParaRPr lang="en-US" sz="1065" dirty="0"/>
          </a:p>
        </p:txBody>
      </p:sp>
      <p:sp>
        <p:nvSpPr>
          <p:cNvPr id="10" name="Text 8"/>
          <p:cNvSpPr/>
          <p:nvPr/>
        </p:nvSpPr>
        <p:spPr>
          <a:xfrm>
            <a:off x="3230880" y="20116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长库龄物料占比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30880" y="231648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公式: 长库龄金额÷总金额×100%</a:t>
            </a:r>
            <a:endParaRPr lang="en-US" sz="1065" dirty="0"/>
          </a:p>
        </p:txBody>
      </p:sp>
      <p:sp>
        <p:nvSpPr>
          <p:cNvPr id="12" name="Text 10"/>
          <p:cNvSpPr/>
          <p:nvPr/>
        </p:nvSpPr>
        <p:spPr>
          <a:xfrm>
            <a:off x="3230880" y="256032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来源: WMS库龄报表</a:t>
            </a:r>
            <a:endParaRPr lang="en-US" sz="1065" dirty="0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库存准确率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23088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公式: 准确数量÷盘点总数×100%</a:t>
            </a:r>
            <a:endParaRPr lang="en-US" sz="1065" dirty="0"/>
          </a:p>
        </p:txBody>
      </p:sp>
      <p:sp>
        <p:nvSpPr>
          <p:cNvPr id="15" name="Text 13"/>
          <p:cNvSpPr/>
          <p:nvPr/>
        </p:nvSpPr>
        <p:spPr>
          <a:xfrm>
            <a:off x="548640" y="347472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来源: 盘点记录</a:t>
            </a:r>
            <a:endParaRPr lang="en-US" sz="1065" dirty="0"/>
          </a:p>
        </p:txBody>
      </p:sp>
      <p:sp>
        <p:nvSpPr>
          <p:cNvPr id="16" name="Text 14"/>
          <p:cNvSpPr/>
          <p:nvPr/>
        </p:nvSpPr>
        <p:spPr>
          <a:xfrm>
            <a:off x="3230880" y="29260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账实相符率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30880" y="323088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公式: 实存品种数÷账存品种数×100%</a:t>
            </a:r>
            <a:endParaRPr lang="en-US" sz="1065" dirty="0"/>
          </a:p>
        </p:txBody>
      </p:sp>
      <p:sp>
        <p:nvSpPr>
          <p:cNvPr id="18" name="Text 16"/>
          <p:cNvSpPr/>
          <p:nvPr/>
        </p:nvSpPr>
        <p:spPr>
          <a:xfrm>
            <a:off x="3230880" y="347472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来源: 台账vs盘点</a:t>
            </a:r>
            <a:endParaRPr lang="en-US" sz="1065" dirty="0"/>
          </a:p>
        </p:txBody>
      </p:sp>
      <p:sp>
        <p:nvSpPr>
          <p:cNvPr id="19" name="Shape 17"/>
          <p:cNvSpPr/>
          <p:nvPr/>
        </p:nvSpPr>
        <p:spPr>
          <a:xfrm>
            <a:off x="6217920" y="1341120"/>
            <a:ext cx="5608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341120"/>
            <a:ext cx="5608320" cy="54864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21" name="Text 19"/>
          <p:cNvSpPr/>
          <p:nvPr/>
        </p:nvSpPr>
        <p:spPr>
          <a:xfrm>
            <a:off x="6339840" y="1438656"/>
            <a:ext cx="536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⚡ ⚡ 效率指标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39840" y="20116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收发货及时率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39840" y="231648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公式: 及时数量÷总数×100%</a:t>
            </a:r>
            <a:endParaRPr lang="en-US" sz="1065" dirty="0"/>
          </a:p>
        </p:txBody>
      </p:sp>
      <p:sp>
        <p:nvSpPr>
          <p:cNvPr id="24" name="Text 22"/>
          <p:cNvSpPr/>
          <p:nvPr/>
        </p:nvSpPr>
        <p:spPr>
          <a:xfrm>
            <a:off x="6339840" y="256032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来源: WMS时间戳</a:t>
            </a:r>
            <a:endParaRPr lang="en-US" sz="1065" dirty="0"/>
          </a:p>
        </p:txBody>
      </p:sp>
      <p:sp>
        <p:nvSpPr>
          <p:cNvPr id="25" name="Text 23"/>
          <p:cNvSpPr/>
          <p:nvPr/>
        </p:nvSpPr>
        <p:spPr>
          <a:xfrm>
            <a:off x="9022080" y="20116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收发货准确率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22080" y="231648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公式: 准确数量÷总数×100%</a:t>
            </a:r>
            <a:endParaRPr lang="en-US" sz="1065" dirty="0"/>
          </a:p>
        </p:txBody>
      </p:sp>
      <p:sp>
        <p:nvSpPr>
          <p:cNvPr id="27" name="Text 25"/>
          <p:cNvSpPr/>
          <p:nvPr/>
        </p:nvSpPr>
        <p:spPr>
          <a:xfrm>
            <a:off x="9022080" y="256032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来源: WMS操作记录</a:t>
            </a:r>
            <a:endParaRPr lang="en-US" sz="1065" dirty="0"/>
          </a:p>
        </p:txBody>
      </p:sp>
      <p:sp>
        <p:nvSpPr>
          <p:cNvPr id="28" name="Text 26"/>
          <p:cNvSpPr/>
          <p:nvPr/>
        </p:nvSpPr>
        <p:spPr>
          <a:xfrm>
            <a:off x="6339840" y="29260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入库时效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39840" y="323088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公式: 到货→上架耗时</a:t>
            </a:r>
            <a:endParaRPr lang="en-US" sz="1065" dirty="0"/>
          </a:p>
        </p:txBody>
      </p:sp>
      <p:sp>
        <p:nvSpPr>
          <p:cNvPr id="30" name="Text 28"/>
          <p:cNvSpPr/>
          <p:nvPr/>
        </p:nvSpPr>
        <p:spPr>
          <a:xfrm>
            <a:off x="6339840" y="347472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来源: WMS作业记录</a:t>
            </a:r>
            <a:endParaRPr lang="en-US" sz="1065" dirty="0"/>
          </a:p>
        </p:txBody>
      </p:sp>
      <p:sp>
        <p:nvSpPr>
          <p:cNvPr id="31" name="Text 29"/>
          <p:cNvSpPr/>
          <p:nvPr/>
        </p:nvSpPr>
        <p:spPr>
          <a:xfrm>
            <a:off x="9022080" y="292608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拣货时效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022080" y="323088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公式: 开始→完成耗时</a:t>
            </a:r>
            <a:endParaRPr lang="en-US" sz="1065" dirty="0"/>
          </a:p>
        </p:txBody>
      </p:sp>
      <p:sp>
        <p:nvSpPr>
          <p:cNvPr id="33" name="Text 31"/>
          <p:cNvSpPr/>
          <p:nvPr/>
        </p:nvSpPr>
        <p:spPr>
          <a:xfrm>
            <a:off x="9022080" y="347472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来源: WMS作业记录</a:t>
            </a:r>
            <a:endParaRPr lang="en-US" sz="1065" dirty="0"/>
          </a:p>
        </p:txBody>
      </p:sp>
      <p:sp>
        <p:nvSpPr>
          <p:cNvPr id="34" name="Shape 32"/>
          <p:cNvSpPr/>
          <p:nvPr/>
        </p:nvSpPr>
        <p:spPr>
          <a:xfrm>
            <a:off x="426720" y="4023360"/>
            <a:ext cx="5608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26720" y="4023360"/>
            <a:ext cx="5608320" cy="548640"/>
          </a:xfrm>
          <a:prstGeom prst="rect">
            <a:avLst/>
          </a:prstGeom>
          <a:solidFill>
            <a:srgbClr val="7B1FA2"/>
          </a:solidFill>
        </p:spPr>
      </p:sp>
      <p:sp>
        <p:nvSpPr>
          <p:cNvPr id="36" name="Text 34"/>
          <p:cNvSpPr/>
          <p:nvPr/>
        </p:nvSpPr>
        <p:spPr>
          <a:xfrm>
            <a:off x="548640" y="4120896"/>
            <a:ext cx="536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🏢 🏭 空间指标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8640" y="469392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库位利用率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499872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公式: 占用库位÷总库位×100%</a:t>
            </a:r>
            <a:endParaRPr lang="en-US" sz="1065" dirty="0"/>
          </a:p>
        </p:txBody>
      </p:sp>
      <p:sp>
        <p:nvSpPr>
          <p:cNvPr id="39" name="Text 37"/>
          <p:cNvSpPr/>
          <p:nvPr/>
        </p:nvSpPr>
        <p:spPr>
          <a:xfrm>
            <a:off x="548640" y="524256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来源: WMS库位模块</a:t>
            </a:r>
            <a:endParaRPr lang="en-US" sz="1065" dirty="0"/>
          </a:p>
        </p:txBody>
      </p:sp>
      <p:sp>
        <p:nvSpPr>
          <p:cNvPr id="40" name="Text 38"/>
          <p:cNvSpPr/>
          <p:nvPr/>
        </p:nvSpPr>
        <p:spPr>
          <a:xfrm>
            <a:off x="3230880" y="469392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库位周转率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230880" y="499872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公式: 变动库位÷总库位×100%</a:t>
            </a:r>
            <a:endParaRPr lang="en-US" sz="1065" dirty="0"/>
          </a:p>
        </p:txBody>
      </p:sp>
      <p:sp>
        <p:nvSpPr>
          <p:cNvPr id="42" name="Text 40"/>
          <p:cNvSpPr/>
          <p:nvPr/>
        </p:nvSpPr>
        <p:spPr>
          <a:xfrm>
            <a:off x="3230880" y="524256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来源: WMS操作日志</a:t>
            </a:r>
            <a:endParaRPr lang="en-US" sz="1065" dirty="0"/>
          </a:p>
        </p:txBody>
      </p:sp>
      <p:sp>
        <p:nvSpPr>
          <p:cNvPr id="43" name="Text 41"/>
          <p:cNvSpPr/>
          <p:nvPr/>
        </p:nvSpPr>
        <p:spPr>
          <a:xfrm>
            <a:off x="548640" y="560832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破损率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591312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公式: 破损数量÷总操作量×100%</a:t>
            </a:r>
            <a:endParaRPr lang="en-US" sz="1065" dirty="0"/>
          </a:p>
        </p:txBody>
      </p:sp>
      <p:sp>
        <p:nvSpPr>
          <p:cNvPr id="45" name="Text 43"/>
          <p:cNvSpPr/>
          <p:nvPr/>
        </p:nvSpPr>
        <p:spPr>
          <a:xfrm>
            <a:off x="548640" y="615696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来源: 质量检验记录</a:t>
            </a:r>
            <a:endParaRPr lang="en-US" sz="1065" dirty="0"/>
          </a:p>
        </p:txBody>
      </p:sp>
      <p:sp>
        <p:nvSpPr>
          <p:cNvPr id="46" name="Text 44"/>
          <p:cNvSpPr/>
          <p:nvPr/>
        </p:nvSpPr>
        <p:spPr>
          <a:xfrm>
            <a:off x="3230880" y="560832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容积率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230880" y="591312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公式: 实际存储容积÷总容积×100%</a:t>
            </a:r>
            <a:endParaRPr lang="en-US" sz="1065" dirty="0"/>
          </a:p>
        </p:txBody>
      </p:sp>
      <p:sp>
        <p:nvSpPr>
          <p:cNvPr id="48" name="Text 46"/>
          <p:cNvSpPr/>
          <p:nvPr/>
        </p:nvSpPr>
        <p:spPr>
          <a:xfrm>
            <a:off x="3230880" y="615696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来源: WMS库位模块</a:t>
            </a:r>
            <a:endParaRPr lang="en-US" sz="1065" dirty="0"/>
          </a:p>
        </p:txBody>
      </p:sp>
      <p:sp>
        <p:nvSpPr>
          <p:cNvPr id="49" name="Shape 47"/>
          <p:cNvSpPr/>
          <p:nvPr/>
        </p:nvSpPr>
        <p:spPr>
          <a:xfrm>
            <a:off x="6217920" y="4023360"/>
            <a:ext cx="5608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217920" y="4023360"/>
            <a:ext cx="5608320" cy="548640"/>
          </a:xfrm>
          <a:prstGeom prst="rect">
            <a:avLst/>
          </a:prstGeom>
          <a:solidFill>
            <a:srgbClr val="E65100"/>
          </a:solidFill>
        </p:spPr>
      </p:sp>
      <p:sp>
        <p:nvSpPr>
          <p:cNvPr id="51" name="Text 49"/>
          <p:cNvSpPr/>
          <p:nvPr/>
        </p:nvSpPr>
        <p:spPr>
          <a:xfrm>
            <a:off x="6339840" y="4120896"/>
            <a:ext cx="536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😊 👥 服务指标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39840" y="469392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人均拣货量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339840" y="499872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公式: 总拣货量÷人数</a:t>
            </a:r>
            <a:endParaRPr lang="en-US" sz="1065" dirty="0"/>
          </a:p>
        </p:txBody>
      </p:sp>
      <p:sp>
        <p:nvSpPr>
          <p:cNvPr id="54" name="Text 52"/>
          <p:cNvSpPr/>
          <p:nvPr/>
        </p:nvSpPr>
        <p:spPr>
          <a:xfrm>
            <a:off x="6339840" y="524256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来源: WMS+HR系统</a:t>
            </a:r>
            <a:endParaRPr lang="en-US" sz="1065" dirty="0"/>
          </a:p>
        </p:txBody>
      </p:sp>
      <p:sp>
        <p:nvSpPr>
          <p:cNvPr id="55" name="Text 53"/>
          <p:cNvSpPr/>
          <p:nvPr/>
        </p:nvSpPr>
        <p:spPr>
          <a:xfrm>
            <a:off x="9022080" y="469392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客户满意度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022080" y="499872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公式: 调研问卷评分</a:t>
            </a:r>
            <a:endParaRPr lang="en-US" sz="1065" dirty="0"/>
          </a:p>
        </p:txBody>
      </p:sp>
      <p:sp>
        <p:nvSpPr>
          <p:cNvPr id="57" name="Text 55"/>
          <p:cNvSpPr/>
          <p:nvPr/>
        </p:nvSpPr>
        <p:spPr>
          <a:xfrm>
            <a:off x="9022080" y="524256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来源: 客户反馈</a:t>
            </a:r>
            <a:endParaRPr lang="en-US" sz="1065" dirty="0"/>
          </a:p>
        </p:txBody>
      </p:sp>
      <p:sp>
        <p:nvSpPr>
          <p:cNvPr id="58" name="Text 56"/>
          <p:cNvSpPr/>
          <p:nvPr/>
        </p:nvSpPr>
        <p:spPr>
          <a:xfrm>
            <a:off x="6339840" y="560832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订单履约率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339840" y="591312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公式: 按时完成订单÷总订单×100%</a:t>
            </a:r>
            <a:endParaRPr lang="en-US" sz="1065" dirty="0"/>
          </a:p>
        </p:txBody>
      </p:sp>
      <p:sp>
        <p:nvSpPr>
          <p:cNvPr id="60" name="Text 58"/>
          <p:cNvSpPr/>
          <p:nvPr/>
        </p:nvSpPr>
        <p:spPr>
          <a:xfrm>
            <a:off x="6339840" y="615696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来源: WMS+OMS</a:t>
            </a:r>
            <a:endParaRPr lang="en-US" sz="1065" dirty="0"/>
          </a:p>
        </p:txBody>
      </p:sp>
      <p:sp>
        <p:nvSpPr>
          <p:cNvPr id="61" name="Text 59"/>
          <p:cNvSpPr/>
          <p:nvPr/>
        </p:nvSpPr>
        <p:spPr>
          <a:xfrm>
            <a:off x="9022080" y="5608320"/>
            <a:ext cx="2560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异常处理及时率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9022080" y="591312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公式: 及时处理数÷总异常数×100%</a:t>
            </a:r>
            <a:endParaRPr lang="en-US" sz="1065" dirty="0"/>
          </a:p>
        </p:txBody>
      </p:sp>
      <p:sp>
        <p:nvSpPr>
          <p:cNvPr id="63" name="Text 61"/>
          <p:cNvSpPr/>
          <p:nvPr/>
        </p:nvSpPr>
        <p:spPr>
          <a:xfrm>
            <a:off x="9022080" y="6156960"/>
            <a:ext cx="25603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来源: WMS工单系统</a:t>
            </a:r>
            <a:endParaRPr lang="en-US" sz="106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609600" y="3048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73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仓库管理</a:t>
            </a:r>
            <a:r>
              <a:rPr lang="en-US" sz="373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核心指标</a:t>
            </a:r>
            <a:endParaRPr lang="en-US" sz="3735" dirty="0"/>
          </a:p>
        </p:txBody>
      </p:sp>
      <p:sp>
        <p:nvSpPr>
          <p:cNvPr id="4" name="Shape 2"/>
          <p:cNvSpPr/>
          <p:nvPr/>
        </p:nvSpPr>
        <p:spPr>
          <a:xfrm>
            <a:off x="609600" y="1584960"/>
            <a:ext cx="3535680" cy="2316480"/>
          </a:xfrm>
          <a:prstGeom prst="roundRect">
            <a:avLst>
              <a:gd name="adj" fmla="val 5263"/>
            </a:avLst>
          </a:prstGeom>
          <a:solidFill>
            <a:srgbClr val="E3F2FD"/>
          </a:solidFill>
        </p:spPr>
      </p:sp>
      <p:sp>
        <p:nvSpPr>
          <p:cNvPr id="5" name="Text 3"/>
          <p:cNvSpPr/>
          <p:nvPr/>
        </p:nvSpPr>
        <p:spPr>
          <a:xfrm>
            <a:off x="609600" y="1828800"/>
            <a:ext cx="3535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65" dirty="0">
                <a:solidFill>
                  <a:srgbClr val="000000"/>
                </a:solidFill>
              </a:rPr>
              <a:t>🔄</a:t>
            </a:r>
            <a:endParaRPr lang="en-US" sz="4265" dirty="0"/>
          </a:p>
        </p:txBody>
      </p:sp>
      <p:sp>
        <p:nvSpPr>
          <p:cNvPr id="6" name="Text 4"/>
          <p:cNvSpPr/>
          <p:nvPr/>
        </p:nvSpPr>
        <p:spPr>
          <a:xfrm>
            <a:off x="609600" y="2621280"/>
            <a:ext cx="353568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6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库存周转率</a:t>
            </a:r>
            <a:endParaRPr lang="en-US" sz="1865" dirty="0"/>
          </a:p>
        </p:txBody>
      </p:sp>
      <p:sp>
        <p:nvSpPr>
          <p:cNvPr id="7" name="Text 5"/>
          <p:cNvSpPr/>
          <p:nvPr/>
        </p:nvSpPr>
        <p:spPr>
          <a:xfrm>
            <a:off x="609600" y="3169920"/>
            <a:ext cx="353568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12-24次/年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389120" y="1584960"/>
            <a:ext cx="3535680" cy="2316480"/>
          </a:xfrm>
          <a:prstGeom prst="roundRect">
            <a:avLst>
              <a:gd name="adj" fmla="val 5263"/>
            </a:avLst>
          </a:prstGeom>
          <a:solidFill>
            <a:srgbClr val="E3F2FD"/>
          </a:solidFill>
        </p:spPr>
      </p:sp>
      <p:sp>
        <p:nvSpPr>
          <p:cNvPr id="9" name="Text 7"/>
          <p:cNvSpPr/>
          <p:nvPr/>
        </p:nvSpPr>
        <p:spPr>
          <a:xfrm>
            <a:off x="4389120" y="1828800"/>
            <a:ext cx="3535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65" dirty="0">
                <a:solidFill>
                  <a:srgbClr val="000000"/>
                </a:solidFill>
              </a:rPr>
              <a:t>⏰</a:t>
            </a:r>
            <a:endParaRPr lang="en-US" sz="4265" dirty="0"/>
          </a:p>
        </p:txBody>
      </p:sp>
      <p:sp>
        <p:nvSpPr>
          <p:cNvPr id="10" name="Text 8"/>
          <p:cNvSpPr/>
          <p:nvPr/>
        </p:nvSpPr>
        <p:spPr>
          <a:xfrm>
            <a:off x="4389120" y="2621280"/>
            <a:ext cx="353568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6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订单及时率</a:t>
            </a:r>
            <a:endParaRPr lang="en-US" sz="1865" dirty="0"/>
          </a:p>
        </p:txBody>
      </p:sp>
      <p:sp>
        <p:nvSpPr>
          <p:cNvPr id="11" name="Text 9"/>
          <p:cNvSpPr/>
          <p:nvPr/>
        </p:nvSpPr>
        <p:spPr>
          <a:xfrm>
            <a:off x="4389120" y="3169920"/>
            <a:ext cx="353568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≥99.5%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68640" y="1584960"/>
            <a:ext cx="3535680" cy="2316480"/>
          </a:xfrm>
          <a:prstGeom prst="roundRect">
            <a:avLst>
              <a:gd name="adj" fmla="val 5263"/>
            </a:avLst>
          </a:prstGeom>
          <a:solidFill>
            <a:srgbClr val="E3F2FD"/>
          </a:solidFill>
        </p:spPr>
      </p:sp>
      <p:sp>
        <p:nvSpPr>
          <p:cNvPr id="13" name="Text 11"/>
          <p:cNvSpPr/>
          <p:nvPr/>
        </p:nvSpPr>
        <p:spPr>
          <a:xfrm>
            <a:off x="8168640" y="1828800"/>
            <a:ext cx="3535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65" dirty="0">
                <a:solidFill>
                  <a:srgbClr val="000000"/>
                </a:solidFill>
              </a:rPr>
              <a:t>✅</a:t>
            </a:r>
            <a:endParaRPr lang="en-US" sz="4265" dirty="0"/>
          </a:p>
        </p:txBody>
      </p:sp>
      <p:sp>
        <p:nvSpPr>
          <p:cNvPr id="14" name="Text 12"/>
          <p:cNvSpPr/>
          <p:nvPr/>
        </p:nvSpPr>
        <p:spPr>
          <a:xfrm>
            <a:off x="8168640" y="2621280"/>
            <a:ext cx="353568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6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出库准确率</a:t>
            </a:r>
            <a:endParaRPr lang="en-US" sz="1865" dirty="0"/>
          </a:p>
        </p:txBody>
      </p:sp>
      <p:sp>
        <p:nvSpPr>
          <p:cNvPr id="15" name="Text 13"/>
          <p:cNvSpPr/>
          <p:nvPr/>
        </p:nvSpPr>
        <p:spPr>
          <a:xfrm>
            <a:off x="8168640" y="3169920"/>
            <a:ext cx="353568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≥99.9%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09600" y="4145280"/>
            <a:ext cx="3535680" cy="2316480"/>
          </a:xfrm>
          <a:prstGeom prst="roundRect">
            <a:avLst>
              <a:gd name="adj" fmla="val 5263"/>
            </a:avLst>
          </a:prstGeom>
          <a:solidFill>
            <a:srgbClr val="E3F2FD"/>
          </a:solidFill>
        </p:spPr>
      </p:sp>
      <p:sp>
        <p:nvSpPr>
          <p:cNvPr id="17" name="Text 15"/>
          <p:cNvSpPr/>
          <p:nvPr/>
        </p:nvSpPr>
        <p:spPr>
          <a:xfrm>
            <a:off x="609600" y="4389120"/>
            <a:ext cx="3535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65" dirty="0">
                <a:solidFill>
                  <a:srgbClr val="000000"/>
                </a:solidFill>
              </a:rPr>
              <a:t>📊</a:t>
            </a:r>
            <a:endParaRPr lang="en-US" sz="4265" dirty="0"/>
          </a:p>
        </p:txBody>
      </p:sp>
      <p:sp>
        <p:nvSpPr>
          <p:cNvPr id="18" name="Text 16"/>
          <p:cNvSpPr/>
          <p:nvPr/>
        </p:nvSpPr>
        <p:spPr>
          <a:xfrm>
            <a:off x="609600" y="5181600"/>
            <a:ext cx="353568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6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库位利用率</a:t>
            </a:r>
            <a:endParaRPr lang="en-US" sz="1865" dirty="0"/>
          </a:p>
        </p:txBody>
      </p:sp>
      <p:sp>
        <p:nvSpPr>
          <p:cNvPr id="19" name="Text 17"/>
          <p:cNvSpPr/>
          <p:nvPr/>
        </p:nvSpPr>
        <p:spPr>
          <a:xfrm>
            <a:off x="609600" y="5730240"/>
            <a:ext cx="353568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75%-85%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389120" y="4145280"/>
            <a:ext cx="3535680" cy="2316480"/>
          </a:xfrm>
          <a:prstGeom prst="roundRect">
            <a:avLst>
              <a:gd name="adj" fmla="val 5263"/>
            </a:avLst>
          </a:prstGeom>
          <a:solidFill>
            <a:srgbClr val="E3F2FD"/>
          </a:solidFill>
        </p:spPr>
      </p:sp>
      <p:sp>
        <p:nvSpPr>
          <p:cNvPr id="21" name="Text 19"/>
          <p:cNvSpPr/>
          <p:nvPr/>
        </p:nvSpPr>
        <p:spPr>
          <a:xfrm>
            <a:off x="4389120" y="4389120"/>
            <a:ext cx="3535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65" dirty="0">
                <a:solidFill>
                  <a:srgbClr val="000000"/>
                </a:solidFill>
              </a:rPr>
              <a:t>👷</a:t>
            </a:r>
            <a:endParaRPr lang="en-US" sz="4265" dirty="0"/>
          </a:p>
        </p:txBody>
      </p:sp>
      <p:sp>
        <p:nvSpPr>
          <p:cNvPr id="22" name="Text 20"/>
          <p:cNvSpPr/>
          <p:nvPr/>
        </p:nvSpPr>
        <p:spPr>
          <a:xfrm>
            <a:off x="4389120" y="5181600"/>
            <a:ext cx="353568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6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人均拣货效率</a:t>
            </a:r>
            <a:endParaRPr lang="en-US" sz="1865" dirty="0"/>
          </a:p>
        </p:txBody>
      </p:sp>
      <p:sp>
        <p:nvSpPr>
          <p:cNvPr id="23" name="Text 21"/>
          <p:cNvSpPr/>
          <p:nvPr/>
        </p:nvSpPr>
        <p:spPr>
          <a:xfrm>
            <a:off x="4389120" y="5730240"/>
            <a:ext cx="353568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100+件/时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8168640" y="4145280"/>
            <a:ext cx="3535680" cy="2316480"/>
          </a:xfrm>
          <a:prstGeom prst="roundRect">
            <a:avLst>
              <a:gd name="adj" fmla="val 5263"/>
            </a:avLst>
          </a:prstGeom>
          <a:solidFill>
            <a:srgbClr val="E3F2FD"/>
          </a:solidFill>
        </p:spPr>
      </p:sp>
      <p:sp>
        <p:nvSpPr>
          <p:cNvPr id="25" name="Text 23"/>
          <p:cNvSpPr/>
          <p:nvPr/>
        </p:nvSpPr>
        <p:spPr>
          <a:xfrm>
            <a:off x="8168640" y="4389120"/>
            <a:ext cx="3535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65" dirty="0">
                <a:solidFill>
                  <a:srgbClr val="000000"/>
                </a:solidFill>
              </a:rPr>
              <a:t>📋</a:t>
            </a:r>
            <a:endParaRPr lang="en-US" sz="4265" dirty="0"/>
          </a:p>
        </p:txBody>
      </p:sp>
      <p:sp>
        <p:nvSpPr>
          <p:cNvPr id="26" name="Text 24"/>
          <p:cNvSpPr/>
          <p:nvPr/>
        </p:nvSpPr>
        <p:spPr>
          <a:xfrm>
            <a:off x="8168640" y="5181600"/>
            <a:ext cx="353568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6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库存准确率</a:t>
            </a:r>
            <a:endParaRPr lang="en-US" sz="1865" dirty="0"/>
          </a:p>
        </p:txBody>
      </p:sp>
      <p:sp>
        <p:nvSpPr>
          <p:cNvPr id="27" name="Text 25"/>
          <p:cNvSpPr/>
          <p:nvPr/>
        </p:nvSpPr>
        <p:spPr>
          <a:xfrm>
            <a:off x="8168640" y="5730240"/>
            <a:ext cx="353568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≥99.5%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976D2"/>
          </a:solidFill>
        </p:spPr>
      </p:sp>
      <p:sp>
        <p:nvSpPr>
          <p:cNvPr id="3" name="Text 1"/>
          <p:cNvSpPr/>
          <p:nvPr/>
        </p:nvSpPr>
        <p:spPr>
          <a:xfrm>
            <a:off x="609600" y="106680"/>
            <a:ext cx="10725785" cy="992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探讨</a:t>
            </a:r>
            <a:r>
              <a:rPr lang="en-US" altLang="zh-CN" sz="3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：</a:t>
            </a:r>
            <a:r>
              <a:rPr lang="zh-CN" altLang="en-US" sz="3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就目前</a:t>
            </a:r>
            <a:r>
              <a:rPr lang="en-US" altLang="zh-CN" sz="3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owms</a:t>
            </a:r>
            <a:r>
              <a:rPr lang="zh-CN" altLang="en-US" sz="3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已有数据</a:t>
            </a:r>
            <a:r>
              <a:rPr lang="en-US" altLang="zh-CN" sz="3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，</a:t>
            </a:r>
            <a:r>
              <a:rPr lang="zh-CN" altLang="en-US" sz="3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我们可以实现哪些</a:t>
            </a:r>
            <a:r>
              <a:rPr lang="zh-CN" altLang="en-US" sz="3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关键指标</a:t>
            </a:r>
            <a:r>
              <a:rPr lang="en-US" altLang="zh-CN" sz="3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？</a:t>
            </a:r>
            <a:endParaRPr lang="en-US" altLang="zh-CN" sz="3465" b="1" dirty="0">
              <a:solidFill>
                <a:srgbClr val="FFFFFF"/>
              </a:solidFill>
              <a:latin typeface="微软雅黑" pitchFamily="34" charset="0"/>
              <a:ea typeface="微软雅黑" charset="-122"/>
              <a:cs typeface="微软雅黑" pitchFamily="34" charset="-12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00225" y="1458595"/>
            <a:ext cx="8039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我们现在提供了哪些系统</a:t>
            </a:r>
            <a:r>
              <a:rPr lang="zh-CN" altLang="en-US"/>
              <a:t>统计指标</a:t>
            </a:r>
            <a:r>
              <a:rPr lang="en-US" altLang="zh-CN"/>
              <a:t>，</a:t>
            </a:r>
            <a:r>
              <a:rPr lang="zh-CN" altLang="en-US"/>
              <a:t>可以体现目前我们</a:t>
            </a:r>
            <a:r>
              <a:rPr lang="zh-CN" altLang="en-US"/>
              <a:t>的仓库管理水平</a:t>
            </a:r>
            <a:r>
              <a:rPr lang="en-US" altLang="zh-CN"/>
              <a:t>？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703705" y="3242945"/>
            <a:ext cx="9193530" cy="2929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2.</a:t>
            </a:r>
            <a:r>
              <a:rPr lang="zh-CN" altLang="en-US"/>
              <a:t>指标应该由哪个系统承接</a:t>
            </a:r>
            <a:r>
              <a:rPr lang="en-US" altLang="zh-CN"/>
              <a:t>？</a:t>
            </a:r>
            <a:endParaRPr lang="en-US" altLang="zh-CN"/>
          </a:p>
          <a:p>
            <a:r>
              <a:rPr lang="zh-CN" altLang="en-US">
                <a:sym typeface="+mn-ea"/>
              </a:rPr>
              <a:t>比如</a:t>
            </a:r>
            <a:r>
              <a:rPr lang="en-US" altLang="zh-CN">
                <a:sym typeface="+mn-ea"/>
              </a:rPr>
              <a:t>：</a:t>
            </a:r>
            <a:r>
              <a:rPr lang="zh-CN" altLang="en-US">
                <a:sym typeface="+mn-ea"/>
              </a:rPr>
              <a:t>订单寻源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订单满足率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需求预测</a:t>
            </a:r>
            <a:r>
              <a:rPr lang="en-US" altLang="zh-CN">
                <a:sym typeface="+mn-ea"/>
              </a:rPr>
              <a:t>？</a:t>
            </a:r>
            <a:r>
              <a:rPr lang="zh-CN" altLang="en-US">
                <a:sym typeface="+mn-ea"/>
              </a:rPr>
              <a:t>订单及时率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账实物差异率</a:t>
            </a:r>
            <a:r>
              <a:rPr lang="en-US" altLang="zh-CN">
                <a:sym typeface="+mn-ea"/>
              </a:rPr>
              <a:t>...</a:t>
            </a:r>
            <a:r>
              <a:rPr lang="zh-CN" altLang="en-US">
                <a:sym typeface="+mn-ea"/>
              </a:rPr>
              <a:t>应该哪个系统做</a:t>
            </a:r>
            <a:r>
              <a:rPr lang="en-US" altLang="zh-CN">
                <a:sym typeface="+mn-ea"/>
              </a:rPr>
              <a:t>？</a:t>
            </a:r>
            <a:r>
              <a:rPr lang="zh-CN" altLang="en-US">
                <a:sym typeface="+mn-ea"/>
              </a:rPr>
              <a:t>不同系统（</a:t>
            </a:r>
            <a:r>
              <a:rPr lang="en-US" altLang="zh-CN">
                <a:sym typeface="+mn-ea"/>
              </a:rPr>
              <a:t>WMS、ERP、</a:t>
            </a:r>
            <a:r>
              <a:rPr lang="zh-CN" altLang="en-US">
                <a:sym typeface="+mn-ea"/>
              </a:rPr>
              <a:t>财务）输出的指标，如果不事先约定好，很容易导致数据对不上、部门之间扯皮</a:t>
            </a:r>
            <a:endParaRPr lang="zh-CN" altLang="en-US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原则核心</a:t>
            </a:r>
            <a:r>
              <a:rPr lang="en-US" altLang="zh-CN">
                <a:sym typeface="+mn-ea"/>
              </a:rPr>
              <a:t>：</a:t>
            </a:r>
            <a:r>
              <a:rPr lang="zh-CN" altLang="en-US">
                <a:sym typeface="+mn-ea"/>
              </a:rPr>
              <a:t>按数据属性 + 管理目的划分职责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任何跨系统的指标对比（如“数量周转率 </a:t>
            </a:r>
            <a:r>
              <a:rPr lang="en-US" altLang="zh-CN">
                <a:sym typeface="+mn-ea"/>
              </a:rPr>
              <a:t>vs </a:t>
            </a:r>
            <a:r>
              <a:rPr lang="zh-CN" altLang="en-US">
                <a:sym typeface="+mn-ea"/>
              </a:rPr>
              <a:t>财务周转率”）必须注明口径差异，禁止直接比较数值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WMS </a:t>
            </a:r>
            <a:r>
              <a:rPr lang="zh-CN" altLang="en-US">
                <a:sym typeface="+mn-ea"/>
              </a:rPr>
              <a:t>负责输出：所有基于数量、时间、作业动作的指标（如数量周转率、库龄、订单满足率、出库时效等）。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ERP/</a:t>
            </a:r>
            <a:r>
              <a:rPr lang="zh-CN" altLang="en-US">
                <a:sym typeface="+mn-ea"/>
              </a:rPr>
              <a:t>财务负责输出：所有基于成本、金额的指标（如财务库存周转率、库存资金占用）。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30705" y="1848485"/>
            <a:ext cx="8008620" cy="1219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如果只基于成品</a:t>
            </a:r>
            <a:r>
              <a:rPr lang="en-US" altLang="zh-CN"/>
              <a:t>owms</a:t>
            </a:r>
            <a:r>
              <a:rPr lang="zh-CN" altLang="en-US"/>
              <a:t>现有的数据能力</a:t>
            </a:r>
            <a:r>
              <a:rPr lang="en-US" altLang="zh-CN"/>
              <a:t>，</a:t>
            </a:r>
            <a:r>
              <a:rPr lang="zh-CN" altLang="en-US"/>
              <a:t>我们到底可以为业务提供哪些核心仓库管理指标</a:t>
            </a:r>
            <a:r>
              <a:rPr lang="en-US" altLang="zh-CN"/>
              <a:t>，</a:t>
            </a:r>
            <a:r>
              <a:rPr lang="zh-CN" altLang="en-US"/>
              <a:t>体现仓库的管理现状</a:t>
            </a:r>
            <a:r>
              <a:rPr lang="en-US" altLang="zh-CN"/>
              <a:t>？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olidFill>
                  <a:srgbClr val="C00000"/>
                </a:solidFill>
              </a:rPr>
              <a:t>（</a:t>
            </a:r>
            <a:r>
              <a:rPr lang="zh-CN" altLang="en-US">
                <a:solidFill>
                  <a:srgbClr val="C00000"/>
                </a:solidFill>
              </a:rPr>
              <a:t>现有</a:t>
            </a:r>
            <a:r>
              <a:rPr lang="zh-CN" altLang="en-US">
                <a:solidFill>
                  <a:srgbClr val="C00000"/>
                </a:solidFill>
              </a:rPr>
              <a:t>输入数据</a:t>
            </a:r>
            <a:r>
              <a:rPr lang="en-US" altLang="zh-CN">
                <a:solidFill>
                  <a:srgbClr val="C00000"/>
                </a:solidFill>
              </a:rPr>
              <a:t>：</a:t>
            </a:r>
            <a:r>
              <a:rPr lang="zh-CN" altLang="en-US">
                <a:solidFill>
                  <a:srgbClr val="C00000"/>
                </a:solidFill>
              </a:rPr>
              <a:t>动态库存</a:t>
            </a:r>
            <a:r>
              <a:rPr lang="en-US" altLang="zh-CN">
                <a:solidFill>
                  <a:srgbClr val="C00000"/>
                </a:solidFill>
              </a:rPr>
              <a:t>，</a:t>
            </a:r>
            <a:r>
              <a:rPr lang="zh-CN" altLang="en-US">
                <a:solidFill>
                  <a:srgbClr val="C00000"/>
                </a:solidFill>
              </a:rPr>
              <a:t>快照库存</a:t>
            </a:r>
            <a:r>
              <a:rPr lang="en-US" altLang="zh-CN">
                <a:solidFill>
                  <a:srgbClr val="C00000"/>
                </a:solidFill>
              </a:rPr>
              <a:t>，</a:t>
            </a:r>
            <a:r>
              <a:rPr lang="zh-CN" altLang="en-US">
                <a:solidFill>
                  <a:srgbClr val="C00000"/>
                </a:solidFill>
              </a:rPr>
              <a:t>如出库交易</a:t>
            </a:r>
            <a:r>
              <a:rPr lang="en-US" altLang="zh-CN">
                <a:solidFill>
                  <a:srgbClr val="C00000"/>
                </a:solidFill>
              </a:rPr>
              <a:t>，</a:t>
            </a:r>
            <a:r>
              <a:rPr lang="zh-CN" altLang="en-US">
                <a:solidFill>
                  <a:srgbClr val="C00000"/>
                </a:solidFill>
              </a:rPr>
              <a:t>仓面积。。。</a:t>
            </a:r>
            <a:r>
              <a:rPr lang="en-US" altLang="zh-CN">
                <a:solidFill>
                  <a:srgbClr val="C00000"/>
                </a:solidFill>
              </a:rPr>
              <a:t>？）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3" name="Text 1"/>
          <p:cNvSpPr/>
          <p:nvPr/>
        </p:nvSpPr>
        <p:spPr>
          <a:xfrm>
            <a:off x="365760" y="219456"/>
            <a:ext cx="11460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65" b="1" dirty="0">
                <a:solidFill>
                  <a:srgbClr val="FFFFFF"/>
                </a:solidFill>
              </a:rPr>
              <a:t>📊 </a:t>
            </a:r>
            <a:r>
              <a:rPr lang="zh-CN" altLang="en-US" sz="2665" b="1" dirty="0">
                <a:solidFill>
                  <a:srgbClr val="FFFFFF"/>
                </a:solidFill>
              </a:rPr>
              <a:t>当前</a:t>
            </a:r>
            <a:r>
              <a:rPr lang="en-US" altLang="zh-CN" sz="2665" b="1" dirty="0">
                <a:solidFill>
                  <a:srgbClr val="FFFFFF"/>
                </a:solidFill>
              </a:rPr>
              <a:t>owms</a:t>
            </a:r>
            <a:r>
              <a:rPr lang="zh-CN" altLang="en-US" sz="2665" b="1" dirty="0">
                <a:solidFill>
                  <a:srgbClr val="FFFFFF"/>
                </a:solidFill>
              </a:rPr>
              <a:t>可以做的</a:t>
            </a:r>
            <a:r>
              <a:rPr lang="en-US" sz="2665" b="1" dirty="0">
                <a:solidFill>
                  <a:srgbClr val="FFFFFF"/>
                </a:solidFill>
              </a:rPr>
              <a:t>库存管理核心指标</a:t>
            </a:r>
            <a:r>
              <a:rPr lang="zh-CN" altLang="en-US" sz="2665" b="1" dirty="0">
                <a:solidFill>
                  <a:srgbClr val="FFFFFF"/>
                </a:solidFill>
              </a:rPr>
              <a:t>整理</a:t>
            </a:r>
            <a:endParaRPr lang="zh-CN" altLang="en-US" sz="2665" b="1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707136"/>
            <a:ext cx="11460480" cy="2682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</a:rPr>
              <a:t>数据周期：月度（自然月）  |  口径：基于数量（无成本金额）  |  数据来源：每日7:30库存快照 + 出入库交易明细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182880" y="1158240"/>
          <a:ext cx="11826240" cy="5170805"/>
        </p:xfrm>
        <a:graphic>
          <a:graphicData uri="http://schemas.openxmlformats.org/drawingml/2006/table">
            <a:tbl>
              <a:tblPr/>
              <a:tblGrid>
                <a:gridCol w="1402080"/>
                <a:gridCol w="3413760"/>
                <a:gridCol w="2438400"/>
                <a:gridCol w="3596640"/>
                <a:gridCol w="975360"/>
              </a:tblGrid>
              <a:tr h="558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65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指标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65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计算公式（月度/</a:t>
                      </a:r>
                      <a:r>
                        <a:rPr lang="zh-CN" altLang="en-US" sz="1065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周</a:t>
                      </a:r>
                      <a:r>
                        <a:rPr lang="en-US" altLang="zh-CN" sz="1065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..</a:t>
                      </a:r>
                      <a:r>
                        <a:rPr lang="en-US" sz="1065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）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65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示例计算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65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指标意义（领导关注点）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65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监控周期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7423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65" b="1" dirty="0">
                          <a:solidFill>
                            <a:srgbClr val="1565C0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🔄 库存数量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65" b="1" dirty="0">
                          <a:solidFill>
                            <a:srgbClr val="1565C0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周转率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5" dirty="0">
                          <a:solidFill>
                            <a:srgbClr val="263238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月总出库量 ÷ 月平均7:30库存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65" dirty="0">
                          <a:solidFill>
                            <a:srgbClr val="263238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（平均库存=每日库存和/天数）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5" b="1" dirty="0">
                          <a:solidFill>
                            <a:srgbClr val="1565C0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出库620件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65" b="1" dirty="0">
                          <a:solidFill>
                            <a:srgbClr val="1565C0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平均库存51件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65" b="1" dirty="0">
                          <a:solidFill>
                            <a:srgbClr val="1565C0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→ 12.2次/月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5" dirty="0">
                          <a:solidFill>
                            <a:srgbClr val="263238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货卖得有多快？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65" dirty="0">
                          <a:solidFill>
                            <a:srgbClr val="263238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越高资金效率越好（数量视角）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65" b="1" dirty="0">
                          <a:solidFill>
                            <a:srgbClr val="1565C0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📅 月度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5797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65" b="1" dirty="0">
                          <a:solidFill>
                            <a:srgbClr val="2E7D32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📅 库存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65" b="1" dirty="0">
                          <a:solidFill>
                            <a:srgbClr val="2E7D32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周转天数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5" dirty="0">
                          <a:solidFill>
                            <a:srgbClr val="263238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30天 ÷ 周转率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5" b="1" dirty="0">
                          <a:solidFill>
                            <a:srgbClr val="2E7D32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30 ÷ 12.2 ≈ 2.5天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5" dirty="0">
                          <a:solidFill>
                            <a:srgbClr val="263238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每件货在库停留几天？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65" dirty="0">
                          <a:solidFill>
                            <a:srgbClr val="263238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越短越好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65" b="1" dirty="0">
                          <a:solidFill>
                            <a:srgbClr val="2E7D32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📅 月度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23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65" b="1" dirty="0">
                          <a:solidFill>
                            <a:srgbClr val="00796B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📈 动态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65" b="1" dirty="0">
                          <a:solidFill>
                            <a:srgbClr val="00796B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存销比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5" dirty="0">
                          <a:solidFill>
                            <a:srgbClr val="263238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今日库存 ÷ 过去7天日均出库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5" b="1" dirty="0">
                          <a:solidFill>
                            <a:srgbClr val="00796B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库存45件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65" b="1" dirty="0">
                          <a:solidFill>
                            <a:srgbClr val="00796B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日均出库22件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65" b="1" dirty="0">
                          <a:solidFill>
                            <a:srgbClr val="00796B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→ 2.0天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5" dirty="0">
                          <a:solidFill>
                            <a:srgbClr val="263238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按当前速度还能卖几天？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65" dirty="0">
                          <a:solidFill>
                            <a:srgbClr val="263238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低于采购周期则预警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65" b="1" dirty="0">
                          <a:solidFill>
                            <a:srgbClr val="00796B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📅 日/周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65" b="1" dirty="0">
                          <a:solidFill>
                            <a:srgbClr val="283593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🏭 库存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65" b="1" dirty="0">
                          <a:solidFill>
                            <a:srgbClr val="283593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容积率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5" dirty="0">
                          <a:solidFill>
                            <a:srgbClr val="263238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当前库存总体积 ÷ 仓库总容积 × 100%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65" dirty="0">
                          <a:solidFill>
                            <a:srgbClr val="263238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（库存体积 = Σ各SKU数量×单品体积）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5" b="1" dirty="0">
                          <a:solidFill>
                            <a:srgbClr val="283593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总体积1800m³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65" b="1" dirty="0">
                          <a:solidFill>
                            <a:srgbClr val="283593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仓库容积2000m³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65" b="1" dirty="0">
                          <a:solidFill>
                            <a:srgbClr val="283593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→ 90%（⚠️预警）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5" dirty="0">
                          <a:solidFill>
                            <a:srgbClr val="263238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仓库是否爆仓？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65" dirty="0">
                          <a:solidFill>
                            <a:srgbClr val="263238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≥85%预警，≥95%严重预警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65" b="1" dirty="0">
                          <a:solidFill>
                            <a:srgbClr val="283593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📅 日/周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65" b="1" dirty="0">
                          <a:solidFill>
                            <a:srgbClr val="F57C00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⚠️ 缺货率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65" b="1" dirty="0">
                          <a:solidFill>
                            <a:srgbClr val="F57C00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（天数）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5" dirty="0">
                          <a:solidFill>
                            <a:srgbClr val="263238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月内7:30库存为0的天数 ÷ 30天 × 100%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5" b="1" dirty="0">
                          <a:solidFill>
                            <a:srgbClr val="F57C00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3天缺货 → 10%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5" dirty="0">
                          <a:solidFill>
                            <a:srgbClr val="263238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断货频率多高？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65" dirty="0">
                          <a:solidFill>
                            <a:srgbClr val="263238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每缺一天都损失销售机会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65" b="1" dirty="0">
                          <a:solidFill>
                            <a:srgbClr val="F57C00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📅 日/周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5797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65" b="1" dirty="0">
                          <a:solidFill>
                            <a:srgbClr val="F57C00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📦 呆滞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65" b="1" dirty="0">
                          <a:solidFill>
                            <a:srgbClr val="F57C00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库存比例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5" dirty="0">
                          <a:solidFill>
                            <a:srgbClr val="263238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超过90天无出库的库存量 ÷ 总库存量 × 100%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5" b="1" dirty="0">
                          <a:solidFill>
                            <a:srgbClr val="F57C00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120/5000 = 2.4%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5" dirty="0">
                          <a:solidFill>
                            <a:srgbClr val="263238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长期不动死货占比多少？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65" dirty="0">
                          <a:solidFill>
                            <a:srgbClr val="263238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清理空间、回笼资金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65" b="1" dirty="0">
                          <a:solidFill>
                            <a:srgbClr val="F57C00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📅 周/月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65" b="1" dirty="0">
                          <a:solidFill>
                            <a:srgbClr val="6A1B9A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🎯 库存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65" b="1" dirty="0">
                          <a:solidFill>
                            <a:srgbClr val="6A1B9A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准确率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5" dirty="0">
                          <a:solidFill>
                            <a:srgbClr val="263238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(1 – 盘点差异绝对值 ÷ 系统账面数) × 100%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5" b="1" dirty="0">
                          <a:solidFill>
                            <a:srgbClr val="6A1B9A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差异50/5000 → 99%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5" dirty="0">
                          <a:solidFill>
                            <a:srgbClr val="263238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系统数与实际货对不对得上？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65" dirty="0">
                          <a:solidFill>
                            <a:srgbClr val="263238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数据是管理的基础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65" b="1" dirty="0">
                          <a:solidFill>
                            <a:srgbClr val="6A1B9A"/>
                          </a:solidFill>
                          <a:latin typeface="微软雅黑" pitchFamily="34" charset="0"/>
                          <a:ea typeface="微软雅黑" charset="-122"/>
                          <a:cs typeface="微软雅黑" pitchFamily="34" charset="-120"/>
                        </a:rPr>
                        <a:t>📅 月度/盘点时</a:t>
                      </a:r>
                      <a:endParaRPr lang="en-US" sz="1065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82880" y="6339840"/>
            <a:ext cx="11826240" cy="426720"/>
          </a:xfrm>
          <a:prstGeom prst="rect">
            <a:avLst/>
          </a:prstGeom>
          <a:solidFill>
            <a:srgbClr val="FFF8E1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04800" y="6376416"/>
            <a:ext cx="1158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5548"/>
                </a:solidFill>
              </a:rPr>
              <a:t>💡 指标说明：以上7大核心指标均基于数量口径（无成本金额），数据取自每日7:30库存快照及出入库交易明细 | 🏭 容积率≥85%预警，≥95%严重预警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70" y="917575"/>
            <a:ext cx="10752455" cy="519112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288290"/>
            <a:ext cx="12192000" cy="105029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4" name="Text 1"/>
          <p:cNvSpPr/>
          <p:nvPr/>
        </p:nvSpPr>
        <p:spPr>
          <a:xfrm>
            <a:off x="255905" y="-254"/>
            <a:ext cx="11460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65" b="1" dirty="0">
                <a:solidFill>
                  <a:srgbClr val="FFFFFF"/>
                </a:solidFill>
              </a:rPr>
              <a:t>📊</a:t>
            </a:r>
            <a:r>
              <a:rPr lang="zh-CN" altLang="en-US" sz="2665" b="1" dirty="0">
                <a:solidFill>
                  <a:srgbClr val="FFFFFF"/>
                </a:solidFill>
              </a:rPr>
              <a:t>库存看板设计</a:t>
            </a:r>
            <a:r>
              <a:rPr lang="zh-CN" altLang="en-US" sz="2665" b="1" dirty="0">
                <a:solidFill>
                  <a:srgbClr val="FFFFFF"/>
                </a:solidFill>
              </a:rPr>
              <a:t>思路（库容预警</a:t>
            </a:r>
            <a:r>
              <a:rPr lang="en-US" altLang="zh-CN" sz="2665" b="1" dirty="0">
                <a:solidFill>
                  <a:srgbClr val="FFFFFF"/>
                </a:solidFill>
              </a:rPr>
              <a:t>/</a:t>
            </a:r>
            <a:r>
              <a:rPr lang="zh-CN" altLang="en-US" sz="2665" b="1" dirty="0">
                <a:solidFill>
                  <a:srgbClr val="FFFFFF"/>
                </a:solidFill>
              </a:rPr>
              <a:t>良品率</a:t>
            </a:r>
            <a:r>
              <a:rPr lang="en-US" altLang="zh-CN" sz="2665" b="1" dirty="0">
                <a:solidFill>
                  <a:srgbClr val="FFFFFF"/>
                </a:solidFill>
              </a:rPr>
              <a:t>/</a:t>
            </a:r>
            <a:r>
              <a:rPr lang="zh-CN" altLang="en-US" sz="2665" b="1" dirty="0">
                <a:solidFill>
                  <a:srgbClr val="FFFFFF"/>
                </a:solidFill>
              </a:rPr>
              <a:t>可用</a:t>
            </a:r>
            <a:r>
              <a:rPr lang="en-US" altLang="zh-CN" sz="2665" b="1" dirty="0">
                <a:solidFill>
                  <a:srgbClr val="FFFFFF"/>
                </a:solidFill>
              </a:rPr>
              <a:t>/..）</a:t>
            </a:r>
            <a:endParaRPr lang="en-US" altLang="zh-CN" sz="2665" b="1" dirty="0">
              <a:solidFill>
                <a:srgbClr val="FFFFFF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725170" y="6108700"/>
            <a:ext cx="10753090" cy="32893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accent2">
                    <a:lumMod val="50000"/>
                  </a:schemeClr>
                </a:solidFill>
                <a:sym typeface="+mn-ea"/>
                <a:hlinkClick r:id="rId2" tooltip="" action="ppaction://hlinkfile"/>
              </a:rPr>
              <a:t>访问链接</a:t>
            </a:r>
            <a:endParaRPr lang="zh-CN" altLang="en-US" sz="1200">
              <a:solidFill>
                <a:schemeClr val="accent2">
                  <a:lumMod val="50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609600" y="3048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3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仓库管理</a:t>
            </a:r>
            <a:r>
              <a:rPr lang="zh-CN" altLang="en-US" sz="373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模式</a:t>
            </a:r>
            <a:r>
              <a:rPr lang="en-US" altLang="zh-CN" sz="373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（</a:t>
            </a:r>
            <a:r>
              <a:rPr lang="zh-CN" altLang="en-US" sz="373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建仓模式</a:t>
            </a:r>
            <a:r>
              <a:rPr lang="en-US" altLang="zh-CN" sz="373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）</a:t>
            </a:r>
            <a:endParaRPr lang="en-US" altLang="zh-CN" sz="3735" b="1" dirty="0">
              <a:solidFill>
                <a:srgbClr val="FFFFFF"/>
              </a:solidFill>
              <a:latin typeface="微软雅黑" pitchFamily="34" charset="0"/>
              <a:ea typeface="微软雅黑" charset="-122"/>
              <a:cs typeface="微软雅黑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7680" y="1463040"/>
            <a:ext cx="5486400" cy="4998720"/>
          </a:xfrm>
          <a:prstGeom prst="roundRect">
            <a:avLst>
              <a:gd name="adj" fmla="val 2439"/>
            </a:avLst>
          </a:prstGeom>
          <a:solidFill>
            <a:srgbClr val="E3F2FD"/>
          </a:solidFill>
        </p:spPr>
      </p:sp>
      <p:sp>
        <p:nvSpPr>
          <p:cNvPr id="5" name="Text 3"/>
          <p:cNvSpPr/>
          <p:nvPr/>
        </p:nvSpPr>
        <p:spPr>
          <a:xfrm>
            <a:off x="487680" y="158496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65" b="1" dirty="0">
                <a:solidFill>
                  <a:srgbClr val="1565C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🏭 仓库管理模式选择</a:t>
            </a:r>
            <a:endParaRPr lang="en-US" sz="1865" dirty="0"/>
          </a:p>
        </p:txBody>
      </p:sp>
      <p:sp>
        <p:nvSpPr>
          <p:cNvPr id="6" name="Shape 4"/>
          <p:cNvSpPr/>
          <p:nvPr/>
        </p:nvSpPr>
        <p:spPr>
          <a:xfrm>
            <a:off x="670560" y="2255520"/>
            <a:ext cx="5120640" cy="914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792480" y="2353056"/>
            <a:ext cx="1341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自建仓库</a:t>
            </a:r>
            <a:endParaRPr lang="en-US" sz="1465" dirty="0"/>
          </a:p>
        </p:txBody>
      </p:sp>
      <p:sp>
        <p:nvSpPr>
          <p:cNvPr id="8" name="Text 6"/>
          <p:cNvSpPr/>
          <p:nvPr/>
        </p:nvSpPr>
        <p:spPr>
          <a:xfrm>
            <a:off x="792480" y="2718816"/>
            <a:ext cx="2316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2E7D3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优: 可控性强、长期成本低</a:t>
            </a:r>
            <a:endParaRPr lang="en-US" sz="1065" dirty="0"/>
          </a:p>
        </p:txBody>
      </p:sp>
      <p:sp>
        <p:nvSpPr>
          <p:cNvPr id="9" name="Text 7"/>
          <p:cNvSpPr/>
          <p:nvPr/>
        </p:nvSpPr>
        <p:spPr>
          <a:xfrm>
            <a:off x="3169920" y="2718816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C6282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劣: 投入大、灵活性差</a:t>
            </a:r>
            <a:endParaRPr lang="en-US" sz="1065" dirty="0"/>
          </a:p>
        </p:txBody>
      </p:sp>
      <p:sp>
        <p:nvSpPr>
          <p:cNvPr id="10" name="Shape 8"/>
          <p:cNvSpPr/>
          <p:nvPr/>
        </p:nvSpPr>
        <p:spPr>
          <a:xfrm>
            <a:off x="670560" y="3291840"/>
            <a:ext cx="5120640" cy="914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792480" y="3389376"/>
            <a:ext cx="1341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租赁仓库</a:t>
            </a:r>
            <a:endParaRPr lang="en-US" sz="1465" dirty="0"/>
          </a:p>
        </p:txBody>
      </p:sp>
      <p:sp>
        <p:nvSpPr>
          <p:cNvPr id="12" name="Text 10"/>
          <p:cNvSpPr/>
          <p:nvPr/>
        </p:nvSpPr>
        <p:spPr>
          <a:xfrm>
            <a:off x="792480" y="3755136"/>
            <a:ext cx="2316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2E7D3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优: 初期投入小、灵活</a:t>
            </a:r>
            <a:endParaRPr lang="en-US" sz="1065" dirty="0"/>
          </a:p>
        </p:txBody>
      </p:sp>
      <p:sp>
        <p:nvSpPr>
          <p:cNvPr id="13" name="Text 11"/>
          <p:cNvSpPr/>
          <p:nvPr/>
        </p:nvSpPr>
        <p:spPr>
          <a:xfrm>
            <a:off x="3169920" y="3755136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C6282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劣: 成本波动、管理受限</a:t>
            </a:r>
            <a:endParaRPr lang="en-US" sz="1065" dirty="0"/>
          </a:p>
        </p:txBody>
      </p:sp>
      <p:sp>
        <p:nvSpPr>
          <p:cNvPr id="14" name="Shape 12"/>
          <p:cNvSpPr/>
          <p:nvPr/>
        </p:nvSpPr>
        <p:spPr>
          <a:xfrm>
            <a:off x="670560" y="4328160"/>
            <a:ext cx="5120640" cy="914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792480" y="4425696"/>
            <a:ext cx="1341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云仓</a:t>
            </a:r>
            <a:endParaRPr lang="en-US" sz="1465" dirty="0"/>
          </a:p>
        </p:txBody>
      </p:sp>
      <p:sp>
        <p:nvSpPr>
          <p:cNvPr id="16" name="Text 14"/>
          <p:cNvSpPr/>
          <p:nvPr/>
        </p:nvSpPr>
        <p:spPr>
          <a:xfrm>
            <a:off x="792480" y="4791456"/>
            <a:ext cx="2316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2E7D3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优: 资源共享、智能调度</a:t>
            </a:r>
            <a:endParaRPr lang="en-US" sz="1065" dirty="0"/>
          </a:p>
        </p:txBody>
      </p:sp>
      <p:sp>
        <p:nvSpPr>
          <p:cNvPr id="17" name="Text 15"/>
          <p:cNvSpPr/>
          <p:nvPr/>
        </p:nvSpPr>
        <p:spPr>
          <a:xfrm>
            <a:off x="3169920" y="4791456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C6282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劣: 数据安全、依赖第三方</a:t>
            </a:r>
            <a:endParaRPr lang="en-US" sz="1065" dirty="0"/>
          </a:p>
        </p:txBody>
      </p:sp>
      <p:sp>
        <p:nvSpPr>
          <p:cNvPr id="18" name="Shape 16"/>
          <p:cNvSpPr/>
          <p:nvPr/>
        </p:nvSpPr>
        <p:spPr>
          <a:xfrm>
            <a:off x="670560" y="5364480"/>
            <a:ext cx="5120640" cy="914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792480" y="5462016"/>
            <a:ext cx="1341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厂边仓</a:t>
            </a:r>
            <a:endParaRPr lang="en-US" sz="1465" dirty="0"/>
          </a:p>
        </p:txBody>
      </p:sp>
      <p:sp>
        <p:nvSpPr>
          <p:cNvPr id="20" name="Text 18"/>
          <p:cNvSpPr/>
          <p:nvPr/>
        </p:nvSpPr>
        <p:spPr>
          <a:xfrm>
            <a:off x="792480" y="5827776"/>
            <a:ext cx="2316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2E7D3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优: 快速响应、降低运输</a:t>
            </a:r>
            <a:endParaRPr lang="en-US" sz="1065" dirty="0"/>
          </a:p>
        </p:txBody>
      </p:sp>
      <p:sp>
        <p:nvSpPr>
          <p:cNvPr id="21" name="Text 19"/>
          <p:cNvSpPr/>
          <p:nvPr/>
        </p:nvSpPr>
        <p:spPr>
          <a:xfrm>
            <a:off x="3169920" y="5827776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dirty="0">
                <a:solidFill>
                  <a:srgbClr val="C6282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劣: 库存分散、管理复杂</a:t>
            </a:r>
            <a:endParaRPr lang="en-US" sz="1065" dirty="0"/>
          </a:p>
        </p:txBody>
      </p:sp>
      <p:sp>
        <p:nvSpPr>
          <p:cNvPr id="22" name="Shape 20"/>
          <p:cNvSpPr/>
          <p:nvPr/>
        </p:nvSpPr>
        <p:spPr>
          <a:xfrm>
            <a:off x="6217920" y="1463040"/>
            <a:ext cx="5486400" cy="4998720"/>
          </a:xfrm>
          <a:prstGeom prst="roundRect">
            <a:avLst>
              <a:gd name="adj" fmla="val 2439"/>
            </a:avLst>
          </a:prstGeom>
          <a:solidFill>
            <a:srgbClr val="FFF8E1"/>
          </a:solidFill>
        </p:spPr>
      </p:sp>
      <p:sp>
        <p:nvSpPr>
          <p:cNvPr id="23" name="Text 21"/>
          <p:cNvSpPr/>
          <p:nvPr/>
        </p:nvSpPr>
        <p:spPr>
          <a:xfrm>
            <a:off x="6217920" y="158496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65" b="1" dirty="0">
                <a:solidFill>
                  <a:srgbClr val="F57C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💡 零库存：理想还是陷阱？</a:t>
            </a:r>
            <a:endParaRPr lang="en-US" sz="1865" dirty="0"/>
          </a:p>
        </p:txBody>
      </p:sp>
      <p:sp>
        <p:nvSpPr>
          <p:cNvPr id="24" name="Text 22"/>
          <p:cNvSpPr/>
          <p:nvPr/>
        </p:nvSpPr>
        <p:spPr>
          <a:xfrm>
            <a:off x="6400800" y="2255520"/>
            <a:ext cx="2438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✅ 价值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0" y="2682240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• 降低资金占用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3072384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• 减少仓储费用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3462528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• 提高周转效率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3852672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• 降低贬值风险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61120" y="2255520"/>
            <a:ext cx="2438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⚠️ 风险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961120" y="2682240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• 断货风险增加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961120" y="3072384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• 议价能力下降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61120" y="3462528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• 物流成本上升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61120" y="3852672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• 应急能力不足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4389120"/>
            <a:ext cx="48768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dirty="0">
                <a:solidFill>
                  <a:srgbClr val="0D47A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零库存实现路径：</a:t>
            </a:r>
            <a:endParaRPr lang="en-US" sz="1465" dirty="0"/>
          </a:p>
        </p:txBody>
      </p:sp>
      <p:sp>
        <p:nvSpPr>
          <p:cNvPr id="35" name="Text 33"/>
          <p:cNvSpPr/>
          <p:nvPr/>
        </p:nvSpPr>
        <p:spPr>
          <a:xfrm>
            <a:off x="6400800" y="4815840"/>
            <a:ext cx="4876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757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• JIT准时制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0" y="5157216"/>
            <a:ext cx="4876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757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• 寄售库存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0" y="5498592"/>
            <a:ext cx="4876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757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• MTO按单生产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0" y="5839968"/>
            <a:ext cx="4876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757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• VMI供应商管理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0" y="6181344"/>
            <a:ext cx="4876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7575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• 越库Cross-dock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7680" y="6156960"/>
            <a:ext cx="11216640" cy="548640"/>
          </a:xfrm>
          <a:prstGeom prst="roundRect">
            <a:avLst>
              <a:gd name="adj" fmla="val 11111"/>
            </a:avLst>
          </a:prstGeom>
          <a:solidFill>
            <a:srgbClr val="0D47A1"/>
          </a:solidFill>
        </p:spPr>
      </p:sp>
      <p:sp>
        <p:nvSpPr>
          <p:cNvPr id="41" name="Text 39"/>
          <p:cNvSpPr/>
          <p:nvPr/>
        </p:nvSpPr>
        <p:spPr>
          <a:xfrm>
            <a:off x="609600" y="6217920"/>
            <a:ext cx="109728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💬 探讨问题：企业应如何平衡库存成本与供应链风险？零库存是否适合所有行业？</a:t>
            </a:r>
            <a:endParaRPr lang="en-US" sz="146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976D2"/>
          </a:solidFill>
        </p:spPr>
      </p:sp>
      <p:sp>
        <p:nvSpPr>
          <p:cNvPr id="3" name="Text 1"/>
          <p:cNvSpPr/>
          <p:nvPr/>
        </p:nvSpPr>
        <p:spPr>
          <a:xfrm>
            <a:off x="426720" y="162560"/>
            <a:ext cx="10972800" cy="922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  <a:sym typeface="+mn-ea"/>
              </a:rPr>
              <a:t>仓库管理</a:t>
            </a:r>
            <a:r>
              <a:rPr lang="zh-CN" altLang="en-US" sz="3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  <a:sym typeface="+mn-ea"/>
              </a:rPr>
              <a:t>模式</a:t>
            </a:r>
            <a:r>
              <a:rPr lang="en-US" altLang="zh-CN" sz="3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  <a:sym typeface="+mn-ea"/>
              </a:rPr>
              <a:t>（</a:t>
            </a:r>
            <a:r>
              <a:rPr lang="zh-CN" altLang="en-US" sz="3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  <a:sym typeface="+mn-ea"/>
              </a:rPr>
              <a:t>业务模式</a:t>
            </a:r>
            <a:r>
              <a:rPr lang="en-US" altLang="zh-CN" sz="3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  <a:sym typeface="+mn-ea"/>
              </a:rPr>
              <a:t>）</a:t>
            </a:r>
            <a:endParaRPr lang="en-US" altLang="zh-CN" sz="3465" b="1" dirty="0">
              <a:solidFill>
                <a:srgbClr val="FFFFFF"/>
              </a:solidFill>
              <a:latin typeface="微软雅黑" pitchFamily="34" charset="0"/>
              <a:ea typeface="微软雅黑" charset="-122"/>
              <a:cs typeface="微软雅黑" pitchFamily="34" charset="-120"/>
              <a:sym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26720" y="1280160"/>
            <a:ext cx="11338560" cy="731520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5" name="Text 3"/>
          <p:cNvSpPr/>
          <p:nvPr/>
        </p:nvSpPr>
        <p:spPr>
          <a:xfrm>
            <a:off x="609600" y="1402080"/>
            <a:ext cx="1097280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💡 核心理念："零库存"≠完全没有库存，而是通过精细化管理和高效供应链协同，实现库存最小化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6720" y="2133600"/>
            <a:ext cx="3657600" cy="188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6720" y="2133600"/>
            <a:ext cx="3657600" cy="97536"/>
          </a:xfrm>
          <a:prstGeom prst="rect">
            <a:avLst/>
          </a:prstGeom>
          <a:solidFill>
            <a:srgbClr val="1976D2"/>
          </a:solidFill>
        </p:spPr>
      </p:sp>
      <p:sp>
        <p:nvSpPr>
          <p:cNvPr id="8" name="Text 6"/>
          <p:cNvSpPr/>
          <p:nvPr/>
        </p:nvSpPr>
        <p:spPr>
          <a:xfrm>
            <a:off x="426720" y="2279904"/>
            <a:ext cx="3657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65" dirty="0">
                <a:solidFill>
                  <a:srgbClr val="000000"/>
                </a:solidFill>
              </a:rPr>
              <a:t>🏭</a:t>
            </a:r>
            <a:endParaRPr lang="en-US" sz="2665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34137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dirty="0">
                <a:solidFill>
                  <a:srgbClr val="1976D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1. JIT准时制</a:t>
            </a:r>
            <a:endParaRPr lang="en-US" sz="1465" dirty="0"/>
          </a:p>
        </p:txBody>
      </p:sp>
      <p:sp>
        <p:nvSpPr>
          <p:cNvPr id="10" name="Text 8"/>
          <p:cNvSpPr/>
          <p:nvPr/>
        </p:nvSpPr>
        <p:spPr>
          <a:xfrm>
            <a:off x="548640" y="3133344"/>
            <a:ext cx="341376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Just-In-Time，按需生产，仅在需要时采购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96640"/>
            <a:ext cx="341376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5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→ 丰田生产方式核心</a:t>
            </a:r>
            <a:endParaRPr lang="en-US" sz="1135" dirty="0"/>
          </a:p>
        </p:txBody>
      </p:sp>
      <p:sp>
        <p:nvSpPr>
          <p:cNvPr id="12" name="Shape 10"/>
          <p:cNvSpPr/>
          <p:nvPr/>
        </p:nvSpPr>
        <p:spPr>
          <a:xfrm>
            <a:off x="4267200" y="2133600"/>
            <a:ext cx="3657600" cy="188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67200" y="2133600"/>
            <a:ext cx="3657600" cy="97536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14" name="Text 12"/>
          <p:cNvSpPr/>
          <p:nvPr/>
        </p:nvSpPr>
        <p:spPr>
          <a:xfrm>
            <a:off x="4267200" y="2279904"/>
            <a:ext cx="3657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65" dirty="0">
                <a:solidFill>
                  <a:srgbClr val="000000"/>
                </a:solidFill>
              </a:rPr>
              <a:t>🤝</a:t>
            </a:r>
            <a:endParaRPr lang="en-US" sz="2665" dirty="0"/>
          </a:p>
        </p:txBody>
      </p:sp>
      <p:sp>
        <p:nvSpPr>
          <p:cNvPr id="15" name="Text 13"/>
          <p:cNvSpPr/>
          <p:nvPr/>
        </p:nvSpPr>
        <p:spPr>
          <a:xfrm>
            <a:off x="4389120" y="2743200"/>
            <a:ext cx="34137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dirty="0">
                <a:solidFill>
                  <a:srgbClr val="00897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2. VMI供应商管理</a:t>
            </a:r>
            <a:endParaRPr lang="en-US" sz="1465" dirty="0"/>
          </a:p>
        </p:txBody>
      </p:sp>
      <p:sp>
        <p:nvSpPr>
          <p:cNvPr id="16" name="Text 14"/>
          <p:cNvSpPr/>
          <p:nvPr/>
        </p:nvSpPr>
        <p:spPr>
          <a:xfrm>
            <a:off x="4389120" y="3133344"/>
            <a:ext cx="341376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Vendor Managed Inventory，供应商代为管理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0" y="3596640"/>
            <a:ext cx="341376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5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→ 美的案例：周转提升50%</a:t>
            </a:r>
            <a:endParaRPr lang="en-US" sz="1135" dirty="0"/>
          </a:p>
        </p:txBody>
      </p:sp>
      <p:sp>
        <p:nvSpPr>
          <p:cNvPr id="18" name="Shape 16"/>
          <p:cNvSpPr/>
          <p:nvPr/>
        </p:nvSpPr>
        <p:spPr>
          <a:xfrm>
            <a:off x="8107680" y="2133600"/>
            <a:ext cx="3657600" cy="188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07680" y="2133600"/>
            <a:ext cx="3657600" cy="97536"/>
          </a:xfrm>
          <a:prstGeom prst="rect">
            <a:avLst/>
          </a:prstGeom>
          <a:solidFill>
            <a:srgbClr val="7B1FA2"/>
          </a:solidFill>
        </p:spPr>
      </p:sp>
      <p:sp>
        <p:nvSpPr>
          <p:cNvPr id="20" name="Text 18"/>
          <p:cNvSpPr/>
          <p:nvPr/>
        </p:nvSpPr>
        <p:spPr>
          <a:xfrm>
            <a:off x="8107680" y="2279904"/>
            <a:ext cx="3657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65" dirty="0">
                <a:solidFill>
                  <a:srgbClr val="000000"/>
                </a:solidFill>
              </a:rPr>
              <a:t>📦</a:t>
            </a:r>
            <a:endParaRPr lang="en-US" sz="2665" dirty="0"/>
          </a:p>
        </p:txBody>
      </p:sp>
      <p:sp>
        <p:nvSpPr>
          <p:cNvPr id="21" name="Text 19"/>
          <p:cNvSpPr/>
          <p:nvPr/>
        </p:nvSpPr>
        <p:spPr>
          <a:xfrm>
            <a:off x="8229600" y="2743200"/>
            <a:ext cx="34137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dirty="0">
                <a:solidFill>
                  <a:srgbClr val="7B1FA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3. 寄售库存</a:t>
            </a:r>
            <a:endParaRPr lang="en-US" sz="1465" dirty="0"/>
          </a:p>
        </p:txBody>
      </p:sp>
      <p:sp>
        <p:nvSpPr>
          <p:cNvPr id="22" name="Text 20"/>
          <p:cNvSpPr/>
          <p:nvPr/>
        </p:nvSpPr>
        <p:spPr>
          <a:xfrm>
            <a:off x="8229600" y="3133344"/>
            <a:ext cx="341376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Consignment，供应商货放仓库，使用后结算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0" y="3596640"/>
            <a:ext cx="341376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5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→ 采购方0库存风险</a:t>
            </a:r>
            <a:endParaRPr lang="en-US" sz="1135" dirty="0"/>
          </a:p>
        </p:txBody>
      </p:sp>
      <p:sp>
        <p:nvSpPr>
          <p:cNvPr id="24" name="Shape 22"/>
          <p:cNvSpPr/>
          <p:nvPr/>
        </p:nvSpPr>
        <p:spPr>
          <a:xfrm>
            <a:off x="426720" y="4206240"/>
            <a:ext cx="3657600" cy="188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6720" y="4206240"/>
            <a:ext cx="3657600" cy="97536"/>
          </a:xfrm>
          <a:prstGeom prst="rect">
            <a:avLst/>
          </a:prstGeom>
          <a:solidFill>
            <a:srgbClr val="C62828"/>
          </a:solidFill>
        </p:spPr>
      </p:sp>
      <p:sp>
        <p:nvSpPr>
          <p:cNvPr id="26" name="Text 24"/>
          <p:cNvSpPr/>
          <p:nvPr/>
        </p:nvSpPr>
        <p:spPr>
          <a:xfrm>
            <a:off x="426720" y="4352544"/>
            <a:ext cx="3657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65" dirty="0">
                <a:solidFill>
                  <a:srgbClr val="000000"/>
                </a:solidFill>
              </a:rPr>
              <a:t>🔄</a:t>
            </a:r>
            <a:endParaRPr lang="en-US" sz="2665" dirty="0"/>
          </a:p>
        </p:txBody>
      </p:sp>
      <p:sp>
        <p:nvSpPr>
          <p:cNvPr id="27" name="Text 25"/>
          <p:cNvSpPr/>
          <p:nvPr/>
        </p:nvSpPr>
        <p:spPr>
          <a:xfrm>
            <a:off x="548640" y="4815840"/>
            <a:ext cx="34137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dirty="0">
                <a:solidFill>
                  <a:srgbClr val="C6282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4. CPFR协同补货</a:t>
            </a:r>
            <a:endParaRPr lang="en-US" sz="1465" dirty="0"/>
          </a:p>
        </p:txBody>
      </p:sp>
      <p:sp>
        <p:nvSpPr>
          <p:cNvPr id="28" name="Text 26"/>
          <p:cNvSpPr/>
          <p:nvPr/>
        </p:nvSpPr>
        <p:spPr>
          <a:xfrm>
            <a:off x="548640" y="5205984"/>
            <a:ext cx="341376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Collaborative Planning, Forecasting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669280"/>
            <a:ext cx="341376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5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→ 上下游数据共享</a:t>
            </a:r>
            <a:endParaRPr lang="en-US" sz="1135" dirty="0"/>
          </a:p>
        </p:txBody>
      </p:sp>
      <p:sp>
        <p:nvSpPr>
          <p:cNvPr id="30" name="Shape 28"/>
          <p:cNvSpPr/>
          <p:nvPr/>
        </p:nvSpPr>
        <p:spPr>
          <a:xfrm>
            <a:off x="4267200" y="4206240"/>
            <a:ext cx="3657600" cy="188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67200" y="4206240"/>
            <a:ext cx="3657600" cy="97536"/>
          </a:xfrm>
          <a:prstGeom prst="rect">
            <a:avLst/>
          </a:prstGeom>
          <a:solidFill>
            <a:srgbClr val="E65100"/>
          </a:solidFill>
        </p:spPr>
      </p:sp>
      <p:sp>
        <p:nvSpPr>
          <p:cNvPr id="32" name="Text 30"/>
          <p:cNvSpPr/>
          <p:nvPr/>
        </p:nvSpPr>
        <p:spPr>
          <a:xfrm>
            <a:off x="4267200" y="4352544"/>
            <a:ext cx="3657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65" dirty="0">
                <a:solidFill>
                  <a:srgbClr val="000000"/>
                </a:solidFill>
              </a:rPr>
              <a:t>📋</a:t>
            </a:r>
            <a:endParaRPr lang="en-US" sz="2665" dirty="0"/>
          </a:p>
        </p:txBody>
      </p:sp>
      <p:sp>
        <p:nvSpPr>
          <p:cNvPr id="33" name="Text 31"/>
          <p:cNvSpPr/>
          <p:nvPr/>
        </p:nvSpPr>
        <p:spPr>
          <a:xfrm>
            <a:off x="4389120" y="4815840"/>
            <a:ext cx="34137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dirty="0">
                <a:solidFill>
                  <a:srgbClr val="E651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5. MTO按单生产</a:t>
            </a:r>
            <a:endParaRPr lang="en-US" sz="1465" dirty="0"/>
          </a:p>
        </p:txBody>
      </p:sp>
      <p:sp>
        <p:nvSpPr>
          <p:cNvPr id="34" name="Text 32"/>
          <p:cNvSpPr/>
          <p:nvPr/>
        </p:nvSpPr>
        <p:spPr>
          <a:xfrm>
            <a:off x="4389120" y="5205984"/>
            <a:ext cx="341376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Make-To-Order，收到订单后才开始生产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89120" y="5669280"/>
            <a:ext cx="341376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5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→ 戴尔直销模式核心</a:t>
            </a:r>
            <a:endParaRPr lang="en-US" sz="1135" dirty="0"/>
          </a:p>
        </p:txBody>
      </p:sp>
      <p:sp>
        <p:nvSpPr>
          <p:cNvPr id="36" name="Shape 34"/>
          <p:cNvSpPr/>
          <p:nvPr/>
        </p:nvSpPr>
        <p:spPr>
          <a:xfrm>
            <a:off x="8107680" y="4206240"/>
            <a:ext cx="3657600" cy="188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07680" y="4206240"/>
            <a:ext cx="3657600" cy="97536"/>
          </a:xfrm>
          <a:prstGeom prst="rect">
            <a:avLst/>
          </a:prstGeom>
          <a:solidFill>
            <a:srgbClr val="00695C"/>
          </a:solidFill>
        </p:spPr>
      </p:sp>
      <p:sp>
        <p:nvSpPr>
          <p:cNvPr id="38" name="Text 36"/>
          <p:cNvSpPr/>
          <p:nvPr/>
        </p:nvSpPr>
        <p:spPr>
          <a:xfrm>
            <a:off x="8107680" y="4352544"/>
            <a:ext cx="3657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65" dirty="0">
                <a:solidFill>
                  <a:srgbClr val="000000"/>
                </a:solidFill>
              </a:rPr>
              <a:t>🛒</a:t>
            </a:r>
            <a:endParaRPr lang="en-US" sz="2665" dirty="0"/>
          </a:p>
        </p:txBody>
      </p:sp>
      <p:sp>
        <p:nvSpPr>
          <p:cNvPr id="39" name="Text 37"/>
          <p:cNvSpPr/>
          <p:nvPr/>
        </p:nvSpPr>
        <p:spPr>
          <a:xfrm>
            <a:off x="8229600" y="4815840"/>
            <a:ext cx="34137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dirty="0">
                <a:solidFill>
                  <a:srgbClr val="00695C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6. 小批量采购</a:t>
            </a:r>
            <a:endParaRPr lang="en-US" sz="1465" dirty="0"/>
          </a:p>
        </p:txBody>
      </p:sp>
      <p:sp>
        <p:nvSpPr>
          <p:cNvPr id="40" name="Text 38"/>
          <p:cNvSpPr/>
          <p:nvPr/>
        </p:nvSpPr>
        <p:spPr>
          <a:xfrm>
            <a:off x="8229600" y="5205984"/>
            <a:ext cx="341376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缩短采购周期，减少单次采购量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29600" y="5669280"/>
            <a:ext cx="341376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5" dirty="0">
                <a:solidFill>
                  <a:srgbClr val="FF6F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→ 配合VMI效果更佳</a:t>
            </a:r>
            <a:endParaRPr lang="en-US" sz="113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976D2"/>
          </a:solidFill>
        </p:spPr>
      </p:sp>
      <p:sp>
        <p:nvSpPr>
          <p:cNvPr id="3" name="Text 1"/>
          <p:cNvSpPr/>
          <p:nvPr/>
        </p:nvSpPr>
        <p:spPr>
          <a:xfrm>
            <a:off x="609600" y="2438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探讨</a:t>
            </a:r>
            <a:r>
              <a:rPr lang="en-US" altLang="zh-CN" sz="3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：</a:t>
            </a:r>
            <a:r>
              <a:rPr lang="en-US" sz="3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"0库存"</a:t>
            </a:r>
            <a:r>
              <a:rPr lang="zh-CN" altLang="en-US" sz="3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是仓库管理追求的终极目标么</a:t>
            </a:r>
            <a:r>
              <a:rPr lang="en-US" sz="3465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？</a:t>
            </a:r>
            <a:endParaRPr lang="en-US" sz="3465" dirty="0"/>
          </a:p>
        </p:txBody>
      </p:sp>
      <p:sp>
        <p:nvSpPr>
          <p:cNvPr id="4" name="文本框 3"/>
          <p:cNvSpPr txBox="1"/>
          <p:nvPr/>
        </p:nvSpPr>
        <p:spPr>
          <a:xfrm>
            <a:off x="1920875" y="2239645"/>
            <a:ext cx="6294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我们</a:t>
            </a:r>
            <a:r>
              <a:rPr lang="zh-CN" altLang="en-US"/>
              <a:t>成品仓库实物现状如何</a:t>
            </a:r>
            <a:r>
              <a:rPr lang="en-US" altLang="zh-CN"/>
              <a:t>？</a:t>
            </a:r>
            <a:r>
              <a:rPr lang="zh-CN" altLang="en-US"/>
              <a:t>空仓</a:t>
            </a:r>
            <a:r>
              <a:rPr lang="en-US" altLang="zh-CN"/>
              <a:t>，</a:t>
            </a:r>
            <a:r>
              <a:rPr lang="zh-CN" altLang="en-US"/>
              <a:t>满仓</a:t>
            </a:r>
            <a:r>
              <a:rPr lang="en-US" altLang="zh-CN"/>
              <a:t>？</a:t>
            </a:r>
            <a:r>
              <a:rPr lang="zh-CN" altLang="en-US"/>
              <a:t>爆仓</a:t>
            </a:r>
            <a:r>
              <a:rPr lang="en-US" altLang="zh-CN"/>
              <a:t>？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951355" y="3060700"/>
            <a:ext cx="6294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我们现在的成品库是否可以做到</a:t>
            </a:r>
            <a:r>
              <a:rPr lang="en-US" altLang="zh-CN"/>
              <a:t>0</a:t>
            </a:r>
            <a:r>
              <a:rPr lang="zh-CN" altLang="en-US"/>
              <a:t>库存管理</a:t>
            </a:r>
            <a:r>
              <a:rPr lang="en-US" altLang="zh-CN"/>
              <a:t>？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1951355" y="3982085"/>
            <a:ext cx="62941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我们有哪些仓库管理模式</a:t>
            </a:r>
            <a:r>
              <a:rPr lang="en-US" altLang="zh-CN"/>
              <a:t>？</a:t>
            </a:r>
            <a:endParaRPr lang="en-US" altLang="zh-CN"/>
          </a:p>
          <a:p>
            <a:r>
              <a:rPr lang="zh-CN" altLang="en-US"/>
              <a:t>基地仓</a:t>
            </a:r>
            <a:r>
              <a:rPr lang="en-US" altLang="zh-CN"/>
              <a:t>/</a:t>
            </a:r>
            <a:r>
              <a:rPr lang="zh-CN" altLang="en-US"/>
              <a:t>区域仓</a:t>
            </a:r>
            <a:r>
              <a:rPr lang="en-US" altLang="zh-CN"/>
              <a:t>/</a:t>
            </a:r>
            <a:r>
              <a:rPr lang="zh-CN" altLang="en-US"/>
              <a:t>外仓对应分别是什么模式</a:t>
            </a:r>
            <a:r>
              <a:rPr lang="en-US" altLang="zh-CN"/>
              <a:t>？</a:t>
            </a:r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400" y="-1219200"/>
            <a:ext cx="6096000" cy="6096000"/>
          </a:xfrm>
          <a:prstGeom prst="ellipse">
            <a:avLst/>
          </a:prstGeom>
          <a:solidFill>
            <a:srgbClr val="1565C0">
              <a:alpha val="5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2438400" y="3657600"/>
            <a:ext cx="4876800" cy="4876800"/>
          </a:xfrm>
          <a:prstGeom prst="ellipse">
            <a:avLst/>
          </a:prstGeom>
          <a:solidFill>
            <a:srgbClr val="FF6F00">
              <a:alpha val="4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09600" y="2438400"/>
            <a:ext cx="10972800" cy="1219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感谢聆听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09600" y="365760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kern="0" spc="800" dirty="0">
                <a:solidFill>
                  <a:srgbClr val="FF6F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876800" y="4632960"/>
            <a:ext cx="2438400" cy="48768"/>
          </a:xfrm>
          <a:prstGeom prst="rect">
            <a:avLst/>
          </a:prstGeom>
          <a:solidFill>
            <a:srgbClr val="FF6F00"/>
          </a:solidFill>
        </p:spPr>
      </p:sp>
      <p:sp>
        <p:nvSpPr>
          <p:cNvPr id="7" name="Text 5"/>
          <p:cNvSpPr/>
          <p:nvPr/>
        </p:nvSpPr>
        <p:spPr>
          <a:xfrm>
            <a:off x="609600" y="5120640"/>
            <a:ext cx="109728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3F2FD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欢迎交流讨论</a:t>
            </a:r>
            <a:endParaRPr lang="en-US" sz="2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8199</Words>
  <Application>WPS 演示</Application>
  <PresentationFormat>宽屏</PresentationFormat>
  <Paragraphs>1379</Paragraphs>
  <Slides>26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6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微软雅黑</vt:lpstr>
      <vt:lpstr>微软雅黑</vt:lpstr>
      <vt:lpstr>Arial</vt:lpstr>
      <vt:lpstr>Arial</vt:lpstr>
      <vt:lpstr>Consolas</vt:lpstr>
      <vt:lpstr>Consolas</vt:lpstr>
      <vt:lpstr>Consolas</vt:lpstr>
      <vt:lpstr>Apple Color Emoji</vt:lpstr>
      <vt:lpstr>儷宋 Pro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范会</cp:lastModifiedBy>
  <cp:revision>228</cp:revision>
  <dcterms:created xsi:type="dcterms:W3CDTF">2026-05-14T02:51:11Z</dcterms:created>
  <dcterms:modified xsi:type="dcterms:W3CDTF">2026-05-14T02:51:11Z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1EC64D6826234122E0CFFE696CA2FFDF_41</vt:lpwstr>
  </property>
</Properties>
</file>